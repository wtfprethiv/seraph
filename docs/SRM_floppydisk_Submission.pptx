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8" r:id="rId18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drive/folders/1TbShN44FSyemdtEXjca11KWpaW50liuU?usp=shar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drive/folders/1TbShN44FSyemdtEXjca11KWpaW50liuU?usp=sharin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>
                <a:solidFill>
                  <a:srgbClr val="63637E"/>
                </a:solidFill>
                <a:latin typeface="Montserrat"/>
              </a:rPr>
              <a:t>Theme ID: </a:t>
            </a:r>
            <a:r>
              <a:rPr sz="1600" b="1">
                <a:solidFill>
                  <a:srgbClr val="14142B"/>
                </a:solidFill>
                <a:latin typeface="Montserrat"/>
              </a:rPr>
              <a:t>1 · Agentic Code Intelligence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>
                <a:solidFill>
                  <a:srgbClr val="63637E"/>
                </a:solidFill>
                <a:latin typeface="Montserrat"/>
              </a:rPr>
              <a:t>Team Name: </a:t>
            </a:r>
            <a:r>
              <a:rPr sz="1600" b="1">
                <a:solidFill>
                  <a:srgbClr val="14142B"/>
                </a:solidFill>
                <a:latin typeface="Montserrat"/>
              </a:rPr>
              <a:t>floppydisk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>
                <a:solidFill>
                  <a:srgbClr val="63637E"/>
                </a:solidFill>
                <a:latin typeface="Montserrat"/>
              </a:rPr>
              <a:t>College: </a:t>
            </a:r>
            <a:r>
              <a:rPr sz="1600" b="1">
                <a:solidFill>
                  <a:srgbClr val="14142B"/>
                </a:solidFill>
                <a:latin typeface="Montserrat"/>
              </a:rPr>
              <a:t>SRM Institute of Science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>
                <a:solidFill>
                  <a:srgbClr val="63637E"/>
                </a:solidFill>
                <a:latin typeface="Montserrat"/>
              </a:rPr>
              <a:t>Members: </a:t>
            </a:r>
            <a:r>
              <a:rPr sz="1600" b="1">
                <a:solidFill>
                  <a:srgbClr val="14142B"/>
                </a:solidFill>
                <a:latin typeface="Montserrat"/>
              </a:rPr>
              <a:t/>
            </a:r>
            <a:endParaRPr/>
          </a:p>
          <a:p>
            <a:pPr indent="0" lvl="1" marL="502920" marR="0" rtl="0" algn="l">
              <a:buNone/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</a:pPr>
            <a:r>
              <a:rPr sz="1600" b="1">
                <a:solidFill>
                  <a:srgbClr val="14142B"/>
                </a:solidFill>
                <a:latin typeface="Montserrat"/>
              </a:rPr>
              <a:t>Akshith Rajesh</a:t>
            </a:r>
            <a:r>
              <a:rPr sz="1600" b="0">
                <a:solidFill>
                  <a:srgbClr val="63637E"/>
                </a:solidFill>
                <a:latin typeface="Montserrat"/>
              </a:rPr>
              <a:t>   ar1870@srmist.edu.in</a:t>
            </a:r>
            <a:endParaRPr/>
          </a:p>
          <a:p>
            <a:pPr indent="0" lvl="1" marL="502920" marR="0" rtl="0" algn="l">
              <a:buNone/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</a:pPr>
            <a:r>
              <a:rPr sz="1600" b="1">
                <a:solidFill>
                  <a:srgbClr val="14142B"/>
                </a:solidFill>
                <a:latin typeface="Montserrat"/>
              </a:rPr>
              <a:t>Sanjeev TS</a:t>
            </a:r>
            <a:r>
              <a:rPr sz="1600" b="0">
                <a:solidFill>
                  <a:srgbClr val="63637E"/>
                </a:solidFill>
                <a:latin typeface="Montserrat"/>
              </a:rPr>
              <a:t>   st4469@srmist.edu.in</a:t>
            </a:r>
            <a:endParaRPr/>
          </a:p>
          <a:p>
            <a:pPr indent="0" lvl="1" marL="502920" marR="0" rtl="0" algn="l">
              <a:buNone/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</a:pPr>
            <a:r>
              <a:rPr sz="1600" b="1">
                <a:solidFill>
                  <a:srgbClr val="14142B"/>
                </a:solidFill>
                <a:latin typeface="Montserrat"/>
              </a:rPr>
              <a:t>D Prethiv Sriman</a:t>
            </a:r>
            <a:r>
              <a:rPr sz="1600" b="0">
                <a:solidFill>
                  <a:srgbClr val="63637E"/>
                </a:solidFill>
                <a:latin typeface="Montserrat"/>
              </a:rPr>
              <a:t>   dz1069@srmist.edu.in</a:t>
            </a:r>
            <a:endParaRPr/>
          </a:p>
          <a:p>
            <a:pPr indent="0" lvl="1" marL="502920" marR="0" rtl="0" algn="l">
              <a:buNone/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</a:pPr>
            <a:r>
              <a:rPr sz="1600" b="1">
                <a:solidFill>
                  <a:srgbClr val="14142B"/>
                </a:solidFill>
                <a:latin typeface="Montserrat"/>
              </a:rPr>
              <a:t>Akhilan VTM</a:t>
            </a:r>
            <a:r>
              <a:rPr sz="1600" b="0">
                <a:solidFill>
                  <a:srgbClr val="63637E"/>
                </a:solidFill>
                <a:latin typeface="Montserrat"/>
              </a:rPr>
              <a:t>   am7508@srmist.edu.in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>
                <a:solidFill>
                  <a:srgbClr val="63637E"/>
                </a:solidFill>
                <a:latin typeface="Montserrat"/>
              </a:rPr>
              <a:t>GitHub: </a:t>
            </a:r>
            <a:r>
              <a:rPr sz="1600" b="1">
                <a:solidFill>
                  <a:srgbClr val="14142B"/>
                </a:solidFill>
                <a:latin typeface="Montserrat"/>
              </a:rPr>
              <a:t>github.com/wtfPrethiv/seraph</a:t>
            </a:r>
            <a:endParaRPr/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SRM logo" descr="s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361" y="630936"/>
            <a:ext cx="1294487" cy="438912"/>
          </a:xfrm>
          <a:prstGeom prst="rect">
            <a:avLst/>
          </a:prstGeom>
        </p:spPr>
      </p:pic>
      <p:pic>
        <p:nvPicPr>
          <p:cNvPr id="98" name="Samsung logo" descr="samsu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431" y="740664"/>
            <a:ext cx="1354610" cy="20848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059168" y="5760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Montserrat"/>
              </a:rPr>
              <a:t>Seraph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·  query-adaptive, version-aware code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Theme: Agentic Code Intelligence</a:t>
            </a:r>
            <a:endParaRPr/>
          </a:p>
        </p:txBody>
      </p:sp>
      <p:pic>
        <p:nvPicPr>
          <p:cNvPr id="102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03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THE PROBLEM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8" y="1828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42B"/>
                </a:solidFill>
                <a:latin typeface="Montserrat"/>
              </a:rPr>
              <a:t>Given a library of code and a question in plain English, rank the snippets by relevance, fast, on CPU, and across changing versions.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41248" y="3063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Thousands of snippets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Too many and too long to paste into any LLM context window.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07408" y="3063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Long, noisy questions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Problem statements mix a story, constraints and worked examples.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973568" y="306324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Code keeps changing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Every commit moves functions; agents still need old versions.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" y="5349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Montserrat"/>
              </a:rPr>
              <a:t>Our answer: </a:t>
            </a:r>
            <a:r>
              <a:rPr sz="1600" b="0">
                <a:solidFill>
                  <a:srgbClr val="14142B"/>
                </a:solidFill>
                <a:latin typeface="Montserrat"/>
              </a:rPr>
              <a:t>Seraph, a retrieval engine that scores code several ways, fuses the scores, indexes every Git version and plugs into a coding agent.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pic>
        <p:nvPicPr>
          <p:cNvPr id="108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09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HOW AGENTS FIND CODE TODAY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841248" y="1874519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43200"/>
                <a:gridCol w="420624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Approach</a:t>
                      </a:r>
                    </a:p>
                  </a:txBody>
                  <a:tcPr marL="128016" marR="128016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Good at</a:t>
                      </a:r>
                    </a:p>
                  </a:txBody>
                  <a:tcPr marL="128016" marR="128016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Gap Seraph closes</a:t>
                      </a:r>
                    </a:p>
                  </a:txBody>
                  <a:tcPr marL="128016" marR="128016" anchor="ctr">
                    <a:solidFill>
                      <a:srgbClr val="6D28D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Montserrat"/>
                        </a:rPr>
                        <a:t>grep / ripgrep loops in coding agents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Exact names and strings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Many tool calls when the name is unknown; no ranking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Montserrat"/>
                        </a:rPr>
                        <a:t>Embedding-only code indexes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Search by meaning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One version of the code; no history, no structure signal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Montserrat"/>
                        </a:rPr>
                        <a:t>Ask an LLM to rank snippets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Deep reading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Context window and latency limits on thousands of snippets</a:t>
                      </a:r>
                    </a:p>
                  </a:txBody>
                  <a:tcPr marL="128016" marR="128016" anchor="ctr">
                    <a:solidFill>
                      <a:srgbClr val="F7F6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Montserrat"/>
                        </a:rPr>
                        <a:t>Generic text embedders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Easy to plug in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63"/>
                          </a:solidFill>
                          <a:latin typeface="Montserrat"/>
                        </a:rPr>
                        <a:t>Weak on code: 0.16 to 0.51 nDCG@10 on stdin-style problems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TextBox 111"/>
          <p:cNvSpPr txBox="1"/>
          <p:nvPr/>
        </p:nvSpPr>
        <p:spPr>
          <a:xfrm>
            <a:off x="841248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3637E"/>
                </a:solidFill>
                <a:latin typeface="Montserrat"/>
              </a:rPr>
              <a:t>Generic-embedder range from our own sweep (gte-modernbert, CodeSage, CodeRankEmbed, jina-code-v2) on the dev_stdin split.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Our Solution &amp; Architecture</a:t>
            </a:r>
            <a:endParaRPr/>
          </a:p>
        </p:txBody>
      </p:sp>
      <p:pic>
        <p:nvPicPr>
          <p:cNvPr id="114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15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HOW SERAPH RANKS CODE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1248" y="2926080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7043" bIns="117043"/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Query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Montserrat"/>
              </a:rPr>
              <a:t>plain English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578608" y="29260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7043" bIns="117043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Analyzer</a:t>
            </a:r>
          </a:p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parse · classify · decompose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185416" y="3429000"/>
            <a:ext cx="374904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4727448" y="1874519"/>
            <a:ext cx="2331720" cy="512064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87782"/>
          <a:lstStyle/>
          <a:p>
            <a:pPr algn="l"/>
            <a:r>
              <a:rPr sz="1200" b="1">
                <a:solidFill>
                  <a:srgbClr val="6D28D9"/>
                </a:solidFill>
                <a:latin typeface="Montserrat"/>
              </a:rPr>
              <a:t>α lexical  </a:t>
            </a:r>
            <a:r>
              <a:rPr sz="1100" b="0">
                <a:solidFill>
                  <a:srgbClr val="4A4A63"/>
                </a:solidFill>
                <a:latin typeface="Montserrat"/>
              </a:rPr>
              <a:t>BM25, code-aware</a:t>
            </a:r>
          </a:p>
        </p:txBody>
      </p:sp>
      <p:cxnSp>
        <p:nvCxnSpPr>
          <p:cNvPr id="121" name="Connector 120"/>
          <p:cNvCxnSpPr/>
          <p:nvPr/>
        </p:nvCxnSpPr>
        <p:spPr>
          <a:xfrm flipV="1">
            <a:off x="4315968" y="2130552"/>
            <a:ext cx="393192" cy="1298448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077455" y="2130552"/>
            <a:ext cx="374905" cy="1298448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4727448" y="2496312"/>
            <a:ext cx="2331720" cy="512064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87782"/>
          <a:lstStyle/>
          <a:p>
            <a:pPr algn="l"/>
            <a:r>
              <a:rPr sz="1200" b="1">
                <a:solidFill>
                  <a:srgbClr val="6D28D9"/>
                </a:solidFill>
                <a:latin typeface="Montserrat"/>
              </a:rPr>
              <a:t>β semantic  </a:t>
            </a:r>
            <a:r>
              <a:rPr sz="1100" b="0">
                <a:solidFill>
                  <a:srgbClr val="4A4A63"/>
                </a:solidFill>
                <a:latin typeface="Montserrat"/>
              </a:rPr>
              <a:t>BGE-Code-v1</a:t>
            </a:r>
          </a:p>
        </p:txBody>
      </p:sp>
      <p:cxnSp>
        <p:nvCxnSpPr>
          <p:cNvPr id="124" name="Connector 123"/>
          <p:cNvCxnSpPr/>
          <p:nvPr/>
        </p:nvCxnSpPr>
        <p:spPr>
          <a:xfrm flipV="1">
            <a:off x="4315968" y="2752344"/>
            <a:ext cx="393192" cy="676656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77455" y="2752344"/>
            <a:ext cx="374905" cy="676656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4727448" y="3118104"/>
            <a:ext cx="2331720" cy="512064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87782"/>
          <a:lstStyle/>
          <a:p>
            <a:pPr algn="l"/>
            <a:r>
              <a:rPr sz="1200" b="1">
                <a:solidFill>
                  <a:srgbClr val="6D28D9"/>
                </a:solidFill>
                <a:latin typeface="Montserrat"/>
              </a:rPr>
              <a:t>γ structural  </a:t>
            </a:r>
            <a:r>
              <a:rPr sz="1100" b="0">
                <a:solidFill>
                  <a:srgbClr val="4A4A63"/>
                </a:solidFill>
                <a:latin typeface="Montserrat"/>
              </a:rPr>
              <a:t>62 traits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4315968" y="3374136"/>
            <a:ext cx="393192" cy="54864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077455" y="3374136"/>
            <a:ext cx="374905" cy="54864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4727448" y="3739896"/>
            <a:ext cx="2331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87782"/>
          <a:lstStyle/>
          <a:p>
            <a:pPr algn="l"/>
            <a:r>
              <a:rPr sz="1200" b="1">
                <a:solidFill>
                  <a:srgbClr val="63637E"/>
                </a:solidFill>
                <a:latin typeface="Montserrat"/>
              </a:rPr>
              <a:t>δ graph  </a:t>
            </a:r>
            <a:r>
              <a:rPr sz="1100" b="0">
                <a:solidFill>
                  <a:srgbClr val="4A4A63"/>
                </a:solidFill>
                <a:latin typeface="Montserrat"/>
              </a:rPr>
              <a:t>call graph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315968" y="3429000"/>
            <a:ext cx="393192" cy="566928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077455" y="3429000"/>
            <a:ext cx="374905" cy="566928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4727448" y="4361688"/>
            <a:ext cx="2331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87782"/>
          <a:lstStyle/>
          <a:p>
            <a:pPr algn="l"/>
            <a:r>
              <a:rPr sz="1200" b="1">
                <a:solidFill>
                  <a:srgbClr val="63637E"/>
                </a:solidFill>
                <a:latin typeface="Montserrat"/>
              </a:rPr>
              <a:t>ε evolution  </a:t>
            </a:r>
            <a:r>
              <a:rPr sz="1100" b="0">
                <a:solidFill>
                  <a:srgbClr val="4A4A63"/>
                </a:solidFill>
                <a:latin typeface="Montserrat"/>
              </a:rPr>
              <a:t>lineage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4315968" y="3429000"/>
            <a:ext cx="393192" cy="1188720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7077455" y="3429000"/>
            <a:ext cx="374905" cy="1188720"/>
          </a:xfrm>
          <a:prstGeom prst="line">
            <a:avLst/>
          </a:prstGeom>
          <a:ln w="15875">
            <a:solidFill>
              <a:srgbClr val="D9D3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7470648" y="292608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7043" bIns="117043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Fusion</a:t>
            </a:r>
          </a:p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weighted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906256" y="3429000"/>
            <a:ext cx="301752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9226296" y="2926080"/>
            <a:ext cx="1143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00" b="1">
                <a:solidFill>
                  <a:srgbClr val="14142B"/>
                </a:solidFill>
                <a:latin typeface="Montserrat"/>
              </a:rPr>
              <a:t>Rerank</a:t>
            </a:r>
          </a:p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optional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387584" y="3429000"/>
            <a:ext cx="219456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10625328" y="2926080"/>
            <a:ext cx="731520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Top-k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41248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A63"/>
                </a:solidFill>
                <a:latin typeface="Montserrat"/>
              </a:rPr>
              <a:t>Every view scores every candidate; fusion mixes them with weights 0.16 / 0.64 / 0.2, tuned on train/dev only. Dashed views run on real repositories, where there is a call graph and a history.</a:t>
            </a:r>
          </a:p>
          <a:p>
            <a:pPr algn="l"/>
            <a:r>
              <a:rPr sz="1300" b="1">
                <a:solidFill>
                  <a:srgbClr val="14142B"/>
                </a:solidFill>
                <a:latin typeface="Montserrat"/>
              </a:rPr>
              <a:t>Index: </a:t>
            </a:r>
            <a:r>
              <a:rPr sz="1300" b="0">
                <a:solidFill>
                  <a:srgbClr val="4A4A63"/>
                </a:solidFill>
                <a:latin typeface="Montserrat"/>
              </a:rPr>
              <a:t>tree-sitter symbol chunks per Git commit in SQLite, a call, import and inheritance graph, and symbol lineage that follows functions through renames and moves.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120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21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SERAPH INSIDE THE MORPHEUS CODING AGENT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41248" y="1874519"/>
            <a:ext cx="2468880" cy="27889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6D28D9"/>
                </a:solidFill>
                <a:latin typeface="Montserrat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Ask in plain English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B5BDB"/>
                </a:solidFill>
                <a:latin typeface="Courier New"/>
              </a:rPr>
              <a:t>"where are MCP server processes started?"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Top hit McpConnection.connect, search 2 ms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520440" y="1874519"/>
            <a:ext cx="2468880" cy="27889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6D28D9"/>
                </a:solidFill>
                <a:latin typeface="Montserrat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Switch versions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B5BDB"/>
                </a:solidFill>
                <a:latin typeface="Courier New"/>
              </a:rPr>
              <a:t>index a new commit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741 of 749 chunks reused, 186 ms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199632" y="1874519"/>
            <a:ext cx="2468880" cy="27889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6D28D9"/>
                </a:solidFill>
                <a:latin typeface="Montserrat"/>
              </a:rPr>
              <a:t>3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Search all versions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B5BDB"/>
                </a:solidFill>
                <a:latin typeface="Courier New"/>
              </a:rPr>
              <a:t>search_history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identical code shown once, tagged +N versions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78824" y="1874519"/>
            <a:ext cx="2468880" cy="27889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6D28D9"/>
                </a:solidFill>
                <a:latin typeface="Montserrat"/>
              </a:rPr>
              <a:t>4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Compare with grep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B5BDB"/>
                </a:solidFill>
                <a:latin typeface="Courier New"/>
              </a:rPr>
              <a:t>/vs &lt;question&gt;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Seraph's #1 is grep hit #277 of 399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41248" y="4937760"/>
            <a:ext cx="10515600" cy="109728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F9C8F"/>
                </a:solidFill>
                <a:latin typeface="Courier New"/>
              </a:rPr>
              <a:t>$ </a:t>
            </a:r>
            <a:r>
              <a:rPr sz="1300" b="0">
                <a:solidFill>
                  <a:srgbClr val="FFFFFF"/>
                </a:solidFill>
                <a:latin typeface="Courier New"/>
              </a:rPr>
              <a:t>/vs where are mcp server processes started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◈ SERAPH search 2 ms   1 McpConnection.connect  src/tools/mcp.ts:317</a:t>
            </a:r>
          </a:p>
          <a:p>
            <a:pPr algn="l"/>
            <a:r>
              <a:rPr sz="1200" b="0">
                <a:solidFill>
                  <a:srgbClr val="B8BCCC"/>
                </a:solidFill>
                <a:latin typeface="Courier New"/>
              </a:rPr>
              <a:t>◇ GREP 41 ms · 399 hits   1 README.md:49   2 README.md:51 ...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1248" y="6126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Demo video: </a:t>
            </a:r>
            <a:r>
              <a:rPr sz="1100" b="0">
                <a:solidFill>
                  <a:srgbClr val="3B5BDB"/>
                </a:solidFill>
                <a:latin typeface="Montserrat"/>
                <a:hlinkClick r:id="rId5"/>
              </a:rPr>
              <a:t>drive.google.com/drive/folders/1TbShN44FSyemdtEXjca11KWpaW50liuU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pic>
        <p:nvPicPr>
          <p:cNvPr id="126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27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EVERYTHING RUNS LOCALLY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41248" y="1874519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Retrieval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Python 3.12 · uv · bm25s · sentence-transformers · PyTorch (CPU, CUDA, Apple MPS) · faiss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190488" y="1874519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Models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BGE-Code-v1 (submitted) · Qwen3-Embedding · EmbeddingGemma · scikit-learn and LightGBM for the query models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41248" y="32461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Code parsing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tree-sitter grammars for Python, TypeScript, JavaScript and Go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190488" y="32461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Storage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SQLite per-commit index · content-hashed embedding cache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46177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Evaluation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MTEB 2.x (AppsRetrieval, CoIR) · own metrics cross-checked to within 2e-6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90488" y="46177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4630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Agent integration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MCP server (FastMCP) · Morpheus terminal agent (TypeScript, Ink) · Cloudflare Workers + OpenRouter for the capped demo model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pic>
        <p:nvPicPr>
          <p:cNvPr id="132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33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WHO IT HELPS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41248" y="1874519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Coding agents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One search call returns ranked functions with paths and line ranges, instead of many grep-and-read rounds.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90488" y="1874519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Bug hunting across releases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Compare two versions: changed symbols, dependencies and commits; follow a function through renames.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41248" y="37033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Large, fast-moving repos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Django: 2,899 files indexed in 31 s; the next release re-indexes in 1.3 s, reading only 38 changed files.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90488" y="37033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Runs on a laptop CPU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No API calls. CPU only: about 0.9 s per new question with BGE-Code-v1, 0.15 s with EmbeddingGemma-300M; precomputed vectors skip the corpus build.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Innovation, Results &amp; Limitations</a:t>
            </a:r>
            <a:endParaRPr b="1" sz="4400">
              <a:solidFill>
                <a:srgbClr val="704EA6"/>
              </a:solidFill>
            </a:endParaRPr>
          </a:p>
        </p:txBody>
      </p:sp>
      <p:pic>
        <p:nvPicPr>
          <p:cNvPr id="138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39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COIR APPSRETRIEVAL · TEST SPLIT · 3,765 QUERIES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" y="1874519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19456" bIns="219456"/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0.9770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nDCG@10 · pipeline + BGE-Code-v1</a:t>
            </a:r>
          </a:p>
          <a:p>
            <a:pPr algn="l"/>
            <a:r>
              <a:rPr sz="1200" b="0">
                <a:solidFill>
                  <a:srgbClr val="E6DDFA"/>
                </a:solidFill>
                <a:latin typeface="Montserrat"/>
              </a:rPr>
              <a:t>MRR@10 0.970 · Recall@10 0.997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46320" y="1874519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2B"/>
                </a:solidFill>
                <a:latin typeface="Montserrat"/>
              </a:rPr>
              <a:t>Ablation on dev_stdin, nDCG@10 (Qwen3 pipeline)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846320" y="2240280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BM25 only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086600" y="2276856"/>
            <a:ext cx="335219" cy="219456"/>
          </a:xfrm>
          <a:prstGeom prst="rect">
            <a:avLst/>
          </a:prstGeom>
          <a:solidFill>
            <a:srgbClr val="D9D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467539" y="224028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0.094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46320" y="2624328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Dense only (Qwen3-0.6B)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086600" y="2660904"/>
            <a:ext cx="2574767" cy="219456"/>
          </a:xfrm>
          <a:prstGeom prst="rect">
            <a:avLst/>
          </a:prstGeom>
          <a:solidFill>
            <a:srgbClr val="D9D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07087" y="2624328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0.722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46320" y="3008376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+ fusion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86600" y="3044952"/>
            <a:ext cx="2617561" cy="219456"/>
          </a:xfrm>
          <a:prstGeom prst="rect">
            <a:avLst/>
          </a:prstGeom>
          <a:solidFill>
            <a:srgbClr val="D9D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749881" y="300837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0.734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46320" y="3392424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+ structural γ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086600" y="3429000"/>
            <a:ext cx="2638958" cy="21945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71278" y="3392424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0.740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846320" y="3776472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+ Gemini rerank (API)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86600" y="3813048"/>
            <a:ext cx="2874324" cy="219456"/>
          </a:xfrm>
          <a:prstGeom prst="rect">
            <a:avLst/>
          </a:prstGeom>
          <a:solidFill>
            <a:srgbClr val="2F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006644" y="377647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42B"/>
                </a:solidFill>
                <a:latin typeface="Montserrat"/>
              </a:rPr>
              <a:t>0.806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41248" y="434340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Innovation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4A63"/>
                </a:solidFill>
                <a:latin typeface="Montserrat"/>
              </a:rPr>
              <a:t>Structural γ view predicts the traits of the answer (stdin, grids, BFS...) from the question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4A63"/>
                </a:solidFill>
                <a:latin typeface="Montserrat"/>
              </a:rPr>
              <a:t>Versioned index with chunk reuse, rename-aware symbol lineage and a cross-file call graph</a:t>
            </a:r>
          </a:p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Same pipeline, swappable embedder: 0.749 with Qwen3, 0.977 with BGE-Code-v1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190488" y="434340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Limitations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4A63"/>
                </a:solidFill>
                <a:latin typeface="Montserrat"/>
              </a:rPr>
              <a:t>BGE-Code-v1 likely saw overlapping public data; test matches its reported 98.08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4A63"/>
                </a:solidFill>
                <a:latin typeface="Montserrat"/>
              </a:rPr>
              <a:t>With BGE the extra views add nothing on APPS (0.9795 alone); test split was run three times</a:t>
            </a:r>
          </a:p>
          <a:p>
            <a:pPr algn="l"/>
            <a:r>
              <a:rPr sz="1100" b="0">
                <a:solidFill>
                  <a:srgbClr val="4A4A63"/>
                </a:solidFill>
                <a:latin typeface="Montserrat"/>
              </a:rPr>
              <a:t>Graph and lineage views are built but not benchmarked: APPS has no call graph or history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pic>
        <p:nvPicPr>
          <p:cNvPr id="144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45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ROADMAP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41248" y="1874519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Montserrat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Local reranker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Gemini listwise rerank gave +6.6 pts but costs 4.3 s per query; a local cross-encoder keeps it offline.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520440" y="1874519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Montserrat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SeraphBench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A repo-level benchmark from real Git histories to measure the graph, evolution and dedup views.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99632" y="1874519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Montserrat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Adaptive weights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A per-query oracle sits 4.4 to 5.7 pts above static weights; mixed query types should unlock it.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878824" y="1874519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Montserrat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4142B"/>
                </a:solidFill>
                <a:latin typeface="Montserrat"/>
              </a:rPr>
              <a:t>Agent benchmark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Measure how many tool calls and tokens Morpheus saves with Seraph compared with grep on real coding tasks.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Brownie Points (Differentiation)</a:t>
            </a:r>
            <a:endParaRPr b="1" sz="4400">
              <a:solidFill>
                <a:srgbClr val="704EA6"/>
              </a:solidFill>
            </a:endParaRPr>
          </a:p>
        </p:txBody>
      </p:sp>
      <p:pic>
        <p:nvPicPr>
          <p:cNvPr id="150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51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WHAT GOES BEYOND THE SCREENING TASK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41248" y="1874519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Version-aware by design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Search any version or all of them; functions are followed through renames and moves, and compare shows what changed between two refs.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190488" y="1874519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Built into a real agent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Seven MCP tools (search, history, symbols, dependencies, compare) used by Morpheus, with ranked result cards.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41248" y="37033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Zero-setup demo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Morpheus runs on a capped cloud model when no key is set, and says so on screen.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190488" y="37033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Honest evaluation</a:t>
            </a:r>
          </a:p>
          <a:p>
            <a:pPr algn="l"/>
            <a:r>
              <a:rPr sz="1300" b="0">
                <a:solidFill>
                  <a:srgbClr val="4A4A63"/>
                </a:solidFill>
                <a:latin typeface="Montserrat"/>
              </a:rPr>
              <a:t>Metrics cross-checked against MTEB to within 2e-6; train, dev and test kept apart; every run logged with its config hash.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41248" y="3657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6D28D9"/>
                </a:solidFill>
                <a:latin typeface="Montserrat"/>
                <a:ea typeface="Calibri"/>
                <a:cs typeface="Calibri"/>
                <a:sym typeface="Calibri"/>
              </a:rPr>
              <a:t>Checklist - Updated on Public GitHub</a:t>
            </a:r>
            <a:endParaRPr/>
          </a:p>
        </p:txBody>
      </p:sp>
      <p:pic>
        <p:nvPicPr>
          <p:cNvPr id="156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157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158" name="Rounded Rectangle 157"/>
          <p:cNvSpPr/>
          <p:nvPr/>
        </p:nvSpPr>
        <p:spPr>
          <a:xfrm>
            <a:off x="841248" y="182880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Working prototype code: public GitHub repo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63637E"/>
                </a:solidFill>
                <a:latin typeface="Montserrat"/>
              </a:rPr>
              <a:t>github.com/wtfPrethiv/seraph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168128" y="1929384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1248" y="2578608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README with reproducible setup instructions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63637E"/>
                </a:solidFill>
                <a:latin typeface="Montserrat"/>
              </a:rPr>
              <a:t>Results, setup, CLI, MCP and Morpheus sections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168128" y="267919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41248" y="3328415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Demo video, max 5 minutes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3B5BDB"/>
                </a:solidFill>
                <a:latin typeface="Montserrat"/>
                <a:hlinkClick r:id="rId5"/>
              </a:rPr>
              <a:t>drive.google.com/drive/folders/1TbShN44FSyemdtEXjca11KWpaW50liuU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168128" y="3428999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41248" y="4078224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Presentation file (PPT or PDF)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63637E"/>
                </a:solidFill>
                <a:latin typeface="Montserrat"/>
              </a:rPr>
              <a:t>This deck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168128" y="4178808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41248" y="4828031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AppsRetrieval result JSON in a GitHub Release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63637E"/>
                </a:solidFill>
                <a:latin typeface="Montserrat"/>
              </a:rPr>
              <a:t>tag PRISM_GENAI_HACKATHON_Y2026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168128" y="4928616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41248" y="557784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14142B"/>
                </a:solidFill>
                <a:latin typeface="Montserrat"/>
              </a:rPr>
              <a:t>AI usage disclosure</a:t>
            </a:r>
            <a:r>
              <a:rPr sz="1200" b="0">
                <a:solidFill>
                  <a:srgbClr val="63637E"/>
                </a:solidFill>
                <a:latin typeface="Montserrat"/>
              </a:rPr>
              <a:t>    </a:t>
            </a:r>
            <a:r>
              <a:rPr sz="1200" b="0">
                <a:solidFill>
                  <a:srgbClr val="63637E"/>
                </a:solidFill>
                <a:latin typeface="Montserrat"/>
              </a:rPr>
              <a:t>docs/ in the repo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168128" y="5678424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SRM logo" descr="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361" y="630936"/>
            <a:ext cx="1294487" cy="438912"/>
          </a:xfrm>
          <a:prstGeom prst="rect">
            <a:avLst/>
          </a:prstGeom>
        </p:spPr>
      </p:pic>
      <p:pic>
        <p:nvPicPr>
          <p:cNvPr id="165" name="Samsung logo" descr="sams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431" y="740664"/>
            <a:ext cx="1354610" cy="208483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042415" y="4617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3637E"/>
                </a:solidFill>
                <a:latin typeface="Montserrat"/>
              </a:rPr>
              <a:t>github.com/wtfPrethiv/seraph  ·  github.com/projectakshith/morpheus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7680960" cy="1097280"/>
          </a:xfrm>
        </p:spPr>
        <p:txBody>
          <a:bodyPr/>
          <a:lstStyle/>
          <a:p>
            <a:r>
              <a:rPr b="1" sz="3000">
                <a:solidFill>
                  <a:srgbClr val="6D28D9"/>
                </a:solidFill>
                <a:latin typeface="Montserrat"/>
              </a:rPr>
              <a:t>A Tough Query, Ranked</a:t>
            </a:r>
          </a:p>
        </p:txBody>
      </p:sp>
      <p:pic>
        <p:nvPicPr>
          <p:cNvPr id="3" name="SRM logo" descr="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235" y="457200"/>
            <a:ext cx="1186613" cy="402336"/>
          </a:xfrm>
          <a:prstGeom prst="rect">
            <a:avLst/>
          </a:prstGeom>
        </p:spPr>
      </p:pic>
      <p:pic>
        <p:nvPicPr>
          <p:cNvPr id="4" name="Samsung logo" descr="sams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898" y="566928"/>
            <a:ext cx="1212017" cy="18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1481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Montserrat"/>
              </a:rPr>
              <a:t>DEV_STDIN EXAMPLE · THE ANSWER SHARES NO KEY WORDS WITH THE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3931920" cy="420624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19456" bIns="219456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4B5FD"/>
                </a:solidFill>
                <a:latin typeface="Montserrat"/>
              </a:rPr>
              <a:t>Query (q1333)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Consider an infinite full binary tree. For a node labelled v, its left child is 2*v and its right child 2*v+1; the root is 1.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For each query i j, print the length of the shortest path between node i and node j.</a:t>
            </a:r>
          </a:p>
          <a:p>
            <a:pPr algn="l"/>
            <a:r>
              <a:rPr sz="1200" b="0">
                <a:solidFill>
                  <a:srgbClr val="B8BCCC"/>
                </a:solidFill>
                <a:latin typeface="Courier New"/>
              </a:rPr>
              <a:t>1 ≤ N ≤ 10^5,  1 ≤ i, j ≤ 10^9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1874519"/>
            <a:ext cx="3017520" cy="4206240"/>
          </a:xfrm>
          <a:prstGeom prst="roundRect">
            <a:avLst>
              <a:gd name="adj" fmla="val 8000"/>
            </a:avLst>
          </a:prstGeom>
          <a:solidFill>
            <a:srgbClr val="F7F6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4142B"/>
                </a:solidFill>
                <a:latin typeface="Montserrat"/>
              </a:rPr>
              <a:t>Keyword search (BM25)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4A63"/>
                </a:solidFill>
                <a:latin typeface="Courier New"/>
              </a:rPr>
              <a:t>1  # cook your dish here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4A63"/>
                </a:solidFill>
                <a:latin typeface="Courier New"/>
              </a:rPr>
              <a:t>2  # cook your dish here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A4A63"/>
                </a:solidFill>
                <a:latin typeface="Courier New"/>
              </a:rPr>
              <a:t>3  #!/usr/bin/env python3</a:t>
            </a:r>
          </a:p>
          <a:p>
            <a:pPr algn="l"/>
            <a:r>
              <a:rPr sz="1200" b="1">
                <a:solidFill>
                  <a:srgbClr val="B42B2B"/>
                </a:solidFill>
                <a:latin typeface="Montserrat"/>
              </a:rPr>
              <a:t>Wrong answers. The right solution is not in its top 100.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874519"/>
            <a:ext cx="3200400" cy="4206240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6D28D9"/>
                </a:solidFill>
                <a:latin typeface="Montserrat"/>
              </a:rPr>
              <a:t>Seraph, rank 1: correct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t=eval(input())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for _ in range(t):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 i,j=map(int,input().split())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 bi=bin(i)[2:]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 bj=bin(j)[2:]</a:t>
            </a:r>
          </a:p>
          <a:p>
            <a:pPr algn="l"/>
            <a:r>
              <a:rPr sz="1100" b="0">
                <a:solidFill>
                  <a:srgbClr val="14142B"/>
                </a:solidFill>
                <a:latin typeface="Courier New"/>
              </a:rPr>
              <a:t> ...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14142B"/>
                </a:solidFill>
                <a:latin typeface="Courier New"/>
              </a:rPr>
              <a:t> print(len(bi)-k+len(bj)-k)</a:t>
            </a:r>
          </a:p>
          <a:p>
            <a:pPr algn="l"/>
            <a:r>
              <a:rPr sz="1200" b="0">
                <a:solidFill>
                  <a:srgbClr val="4A4A63"/>
                </a:solidFill>
                <a:latin typeface="Montserrat"/>
              </a:rPr>
              <a:t>It never says tree or path: it compares binary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Montserrat"/>
              </a:rPr>
              <a:t>Seraph · SRM IST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
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8" r:id="rId18"/>
    <p:sldId id="264" r:id="rId13"/>
    <p:sldId id="265" r:id="rId14"/>
    <p:sldId id="266" r:id="rId15"/>
    <p:sldId id="267" r:id="rId16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7" roundtripDataSignature="AMtx7mgQuomGbdS/wh2yqkB/K4YAZ70Y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customschemas.google.com/relationships/presentationmetadata" Target="metadata"/><Relationship Id="rId18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" name="Google Shape;87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9" name="Google Shape;159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Closing slide. Add the Google Form URL and a contact email before sharing. Edition 2 organising team for reference: Language AI - Sourabh Tiwari, Gaurav, Sanjeeth Pothireddy, Gorang Maniar; PRISM - Binny Lakra, Prakhar Chandrakar, Vishu Kumar; Kick-off and mentors - Giridhar Jakki, Deepraj Prabhakar Patkar (Language AI), Srimanu Prasad Nagaraju, Ashish Kumar (Tech Strategy).</a:t>
            </a:r>
            <a:endParaRPr/>
          </a:p>
        </p:txBody>
      </p:sp>
      <p:sp>
        <p:nvSpPr>
          <p:cNvPr id="160" name="Google Shape;160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1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" name="Google Shape;19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6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6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5" name="Google Shape;25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7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7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1" name="Google Shape;31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8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18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9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4" name="Google Shape;44;p19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5" name="Google Shape;45;p19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6" name="Google Shape;46;p19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7" name="Google Shape;47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22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2" name="Google Shape;62;p22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3" name="Google Shape;63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3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23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23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70" name="Google Shape;70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24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6" name="Google Shape;76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5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25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2" name="Google Shape;82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2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"/>
          <p:cNvSpPr/>
          <p:nvPr/>
        </p:nvSpPr>
        <p:spPr>
          <a:xfrm>
            <a:off x="777240" y="676656"/>
            <a:ext cx="2423160" cy="347472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2700">
            <a:solidFill>
              <a:srgbClr val="D9D3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1"/>
          <p:cNvSpPr txBox="1"/>
          <p:nvPr/>
        </p:nvSpPr>
        <p:spPr>
          <a:xfrm>
            <a:off x="777240" y="676656"/>
            <a:ext cx="24231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SAMSUNG PRISM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777240" y="1207008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5000"/>
              <a:buFont typeface="Arial"/>
              <a:buNone/>
            </a:pPr>
            <a:r>
              <a:rPr b="1" i="0" lang="en-US" sz="50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Generative AI</a:t>
            </a:r>
            <a:endParaRPr b="0" i="0" sz="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777240" y="1901952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5000"/>
              <a:buFont typeface="Arial"/>
              <a:buNone/>
            </a:pPr>
            <a:r>
              <a:rPr b="1" i="0" lang="en-US" sz="5000" u="none" cap="none" strike="noStrik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Hackathon</a:t>
            </a:r>
            <a:endParaRPr b="0" i="0" sz="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777240" y="2724912"/>
            <a:ext cx="6126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3rd Edition</a:t>
            </a:r>
            <a:r>
              <a:rPr b="0" i="0" lang="en-US" sz="20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   2026 – 27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"/>
          <p:cNvSpPr txBox="1"/>
          <p:nvPr/>
        </p:nvSpPr>
        <p:spPr>
          <a:xfrm>
            <a:off x="777240" y="3310128"/>
            <a:ext cx="585216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sz="1600" b="0">
                <a:solidFill>
                  <a:srgbClr val="63637E"/>
                </a:solidFill>
                <a:latin typeface="Montserrat"/>
              </a:rPr>
              <a:t>Theme ID: </a:t>
            </a:r>
            <a:r>
              <a:rPr sz="1600" b="1">
                <a:solidFill>
                  <a:srgbClr val="14142B"/>
                </a:solidFill>
                <a:latin typeface="Montserrat"/>
              </a:rPr>
              <a:t>1 · Agentic Code Intelligence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sz="1600" b="0">
                <a:solidFill>
                  <a:srgbClr val="63637E"/>
                </a:solidFill>
                <a:latin typeface="Montserrat"/>
              </a:rPr>
              <a:t>Team Name: </a:t>
            </a:r>
            <a:r>
              <a:rPr sz="1600" b="1">
                <a:solidFill>
                  <a:srgbClr val="14142B"/>
                </a:solidFill>
                <a:latin typeface="Montserrat"/>
              </a:rPr>
              <a:t>floppydisk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sz="1600" b="0">
                <a:solidFill>
                  <a:srgbClr val="63637E"/>
                </a:solidFill>
                <a:latin typeface="Montserrat"/>
              </a:rPr>
              <a:t>College: </a:t>
            </a:r>
            <a:r>
              <a:rPr sz="1600" b="1">
                <a:solidFill>
                  <a:srgbClr val="14142B"/>
                </a:solidFill>
                <a:latin typeface="Montserrat"/>
              </a:rPr>
              <a:t>SRM Institute of Science and Technology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sz="1600" b="0">
                <a:solidFill>
                  <a:srgbClr val="63637E"/>
                </a:solidFill>
                <a:latin typeface="Montserrat"/>
              </a:rPr>
              <a:t>Members: </a:t>
            </a:r>
            <a:r>
              <a:rPr sz="1600" b="1">
                <a:solidFill>
                  <a:srgbClr val="14142B"/>
                </a:solidFill>
                <a:latin typeface="Montserrat"/>
              </a:rPr>
              <a:t/>
            </a:r>
            <a:endParaRPr/>
          </a:p>
          <a:p>
            <a:pPr indent="0" lvl="1" marL="502920" marR="0" rtl="0" algn="l">
              <a:buNone/>
              <a:spcBef>
                <a:spcPts val="2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</a:pPr>
            <a:r>
              <a:rPr sz="1600" b="1">
                <a:solidFill>
                  <a:srgbClr val="14142B"/>
                </a:solidFill>
                <a:latin typeface="Montserrat"/>
              </a:rPr>
              <a:t>Akshith Rajesh</a:t>
            </a:r>
            <a:r>
              <a:rPr sz="1600" b="0">
                <a:solidFill>
                  <a:srgbClr val="63637E"/>
                </a:solidFill>
                <a:latin typeface="Montserrat"/>
              </a:rPr>
              <a:t>   ar1870@srmist.edu.in</a:t>
            </a:r>
            <a:endParaRPr/>
          </a:p>
          <a:p>
            <a:pPr indent="0" lvl="1" marL="502920" marR="0" rtl="0" algn="l">
              <a:buNone/>
              <a:spcBef>
                <a:spcPts val="2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</a:pPr>
            <a:r>
              <a:rPr sz="1600" b="1">
                <a:solidFill>
                  <a:srgbClr val="14142B"/>
                </a:solidFill>
                <a:latin typeface="Montserrat"/>
              </a:rPr>
              <a:t>Sanjeev TS</a:t>
            </a:r>
            <a:r>
              <a:rPr sz="1600" b="0">
                <a:solidFill>
                  <a:srgbClr val="63637E"/>
                </a:solidFill>
                <a:latin typeface="Montserrat"/>
              </a:rPr>
              <a:t>   st4469@srmist.edu.in</a:t>
            </a:r>
            <a:endParaRPr/>
          </a:p>
          <a:p>
            <a:pPr indent="0" lvl="1" marL="502920" marR="0" rtl="0" algn="l">
              <a:buNone/>
              <a:spcBef>
                <a:spcPts val="2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</a:pPr>
            <a:r>
              <a:rPr sz="1600" b="1">
                <a:solidFill>
                  <a:srgbClr val="14142B"/>
                </a:solidFill>
                <a:latin typeface="Montserrat"/>
              </a:rPr>
              <a:t>D Prethiv Sriman</a:t>
            </a:r>
            <a:r>
              <a:rPr sz="1600" b="0">
                <a:solidFill>
                  <a:srgbClr val="63637E"/>
                </a:solidFill>
                <a:latin typeface="Montserrat"/>
              </a:rPr>
              <a:t>   dz1069@srmist.edu.in</a:t>
            </a:r>
            <a:endParaRPr/>
          </a:p>
          <a:p>
            <a:pPr indent="0" lvl="1" marL="502920" marR="0" rtl="0" algn="l">
              <a:buNone/>
              <a:spcBef>
                <a:spcPts val="2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</a:pPr>
            <a:r>
              <a:rPr sz="1600" b="1">
                <a:solidFill>
                  <a:srgbClr val="14142B"/>
                </a:solidFill>
                <a:latin typeface="Montserrat"/>
              </a:rPr>
              <a:t>Akhilan VTM</a:t>
            </a:r>
            <a:r>
              <a:rPr sz="1600" b="0">
                <a:solidFill>
                  <a:srgbClr val="63637E"/>
                </a:solidFill>
                <a:latin typeface="Montserrat"/>
              </a:rPr>
              <a:t>   am7508@srmist.edu.in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sz="1600" b="0">
                <a:solidFill>
                  <a:srgbClr val="63637E"/>
                </a:solidFill>
                <a:latin typeface="Montserrat"/>
              </a:rPr>
              <a:t>GitHub: </a:t>
            </a:r>
            <a:r>
              <a:rPr sz="1600" b="1">
                <a:solidFill>
                  <a:srgbClr val="14142B"/>
                </a:solidFill>
                <a:latin typeface="Montserrat"/>
              </a:rPr>
              <a:t>github.com/wtfPrethiv/seraph</a:t>
            </a:r>
            <a:endParaRPr/>
          </a:p>
        </p:txBody>
      </p:sp>
      <p:pic>
        <p:nvPicPr>
          <p:cNvPr descr="hero_network.png" id="96" name="Google Shape;9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59168" y="1051560"/>
            <a:ext cx="4572000" cy="4572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SRM logo" descr="sr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62361" y="630936"/>
            <a:ext cx="1294487" cy="438912"/>
          </a:xfrm>
          <a:prstGeom prst="rect">
            <a:avLst/>
          </a:prstGeom>
        </p:spPr>
      </p:pic>
      <p:pic>
        <p:nvPicPr>
          <p:cNvPr id="98" name="Samsung logo" descr="samsu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33431" y="740664"/>
            <a:ext cx="1354610" cy="208483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7059168" y="576072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6D28D9"/>
                </a:solidFill>
                <a:latin typeface="Montserrat"/>
              </a:rPr>
              <a:t>Seraph</a:t>
            </a:r>
            <a:r>
              <a:rPr sz="1200" b="0">
                <a:solidFill>
                  <a:srgbClr val="63637E"/>
                </a:solidFill>
                <a:latin typeface="Montserrat"/>
              </a:rPr>
              <a:t>  ·  query-adaptive, version-aware code retrieval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"/>
          <p:cNvSpPr txBox="1"/>
          <p:nvPr>
            <p:ph type="title"/>
          </p:nvPr>
        </p:nvSpPr>
        <p:spPr>
          <a:xfrm>
            <a:off x="841248" y="365760"/>
            <a:ext cx="768096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000">
                <a:solidFill>
                  <a:srgbClr val="6D28D9"/>
                </a:solidFill>
                <a:latin typeface="Montserrat"/>
                <a:ea typeface="Calibri"/>
                <a:cs typeface="Calibri"/>
                <a:sym typeface="Calibri"/>
              </a:rPr>
              <a:t>Theme: Agentic Code Intelligence</a:t>
            </a:r>
            <a:endParaRPr/>
          </a:p>
        </p:txBody>
      </p:sp>
      <p:pic>
        <p:nvPicPr>
          <p:cNvPr id="102" name="SRM logo" descr="s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0235" y="457200"/>
            <a:ext cx="1186613" cy="402336"/>
          </a:xfrm>
          <a:prstGeom prst="rect">
            <a:avLst/>
          </a:prstGeom>
        </p:spPr>
      </p:pic>
      <p:pic>
        <p:nvPicPr>
          <p:cNvPr id="103" name="Samsung logo" descr="samsu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3898" y="566928"/>
            <a:ext cx="1212017" cy="186537"/>
          </a:xfrm>
          <a:prstGeom prst="rect">
            <a:avLst/>
          </a:prstGeom>
        </p:spPr>
      </p:pic>
      <p:sp>
        <p:nvSpPr>
          <p:cNvPr id="104" name="TextBox 103"/>
          <p:cNvSpPr txBox="1"/>
          <p:nvPr/>
        </p:nvSpPr>
        <p:spPr>
          <a:xfrm>
            <a:off x="841248" y="14813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D28D9"/>
                </a:solidFill>
                <a:latin typeface="Montserrat"/>
              </a:rPr>
              <a:t>THE PROBLEM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41248" y="182880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4142B"/>
                </a:solidFill>
                <a:latin typeface="Montserrat"/>
              </a:rPr>
              <a:t>Given a library of code and a question in plain English, rank the snippets by relevance, fast, on CPU, and across changing versions.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841248" y="3063240"/>
            <a:ext cx="3291840" cy="2011680"/>
          </a:xfrm>
          <a:prstGeom prst="roundRect">
            <a:avLst>
              <a:gd name="adj" fmla="val 8000"/>
            </a:avLst>
          </a:prstGeom>
          <a:solidFill>
            <a:srgbClr val="F7F6FC"/>
          </a:solidFill>
          <a:ln w="12700">
            <a:solidFill>
              <a:srgbClr val="D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14142B"/>
                </a:solidFill>
                <a:latin typeface="Montserrat"/>
              </a:rPr>
              <a:t>Thousands of snippets</a:t>
            </a:r>
          </a:p>
          <a:p>
            <a:pPr algn="l"/>
            <a:r>
              <a:rPr sz="1300" b="0">
                <a:solidFill>
                  <a:srgbClr val="4A4A63"/>
                </a:solidFill>
                <a:latin typeface="Montserrat"/>
              </a:rPr>
              <a:t>Too many and too long to paste into any LLM context window.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4407408" y="3063240"/>
            <a:ext cx="3291840" cy="2011680"/>
          </a:xfrm>
          <a:prstGeom prst="roundRect">
            <a:avLst>
              <a:gd name="adj" fmla="val 8000"/>
            </a:avLst>
          </a:prstGeom>
          <a:solidFill>
            <a:srgbClr val="F7F6FC"/>
          </a:solidFill>
          <a:ln w="12700">
            <a:solidFill>
              <a:srgbClr val="D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14142B"/>
                </a:solidFill>
                <a:latin typeface="Montserrat"/>
              </a:rPr>
              <a:t>Long, noisy questions</a:t>
            </a:r>
          </a:p>
          <a:p>
            <a:pPr algn="l"/>
            <a:r>
              <a:rPr sz="1300" b="0">
                <a:solidFill>
                  <a:srgbClr val="4A4A63"/>
                </a:solidFill>
                <a:latin typeface="Montserrat"/>
              </a:rPr>
              <a:t>Problem statements mix a story, constraints and worked examples.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7973568" y="3063240"/>
            <a:ext cx="3291840" cy="2011680"/>
          </a:xfrm>
          <a:prstGeom prst="roundRect">
            <a:avLst>
              <a:gd name="adj" fmla="val 8000"/>
            </a:avLst>
          </a:prstGeom>
          <a:solidFill>
            <a:srgbClr val="F7F6FC"/>
          </a:solidFill>
          <a:ln w="12700">
            <a:solidFill>
              <a:srgbClr val="D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14142B"/>
                </a:solidFill>
                <a:latin typeface="Montserrat"/>
              </a:rPr>
              <a:t>Code keeps changing</a:t>
            </a:r>
          </a:p>
          <a:p>
            <a:pPr algn="l"/>
            <a:r>
              <a:rPr sz="1300" b="0">
                <a:solidFill>
                  <a:srgbClr val="4A4A63"/>
                </a:solidFill>
                <a:latin typeface="Montserrat"/>
              </a:rPr>
              <a:t>Every commit moves functions; agents still need old versions.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41248" y="534924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6D28D9"/>
                </a:solidFill>
                <a:latin typeface="Montserrat"/>
              </a:rPr>
              <a:t>Our answer: </a:t>
            </a:r>
            <a:r>
              <a:rPr sz="1600" b="0">
                <a:solidFill>
                  <a:srgbClr val="14142B"/>
                </a:solidFill>
                <a:latin typeface="Montserrat"/>
              </a:rPr>
              <a:t>Seraph, a retrieval engine that scores code several ways, fuses the scores, indexes every Git version and plugs into a coding agent.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41248" y="641908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3637E"/>
                </a:solidFill>
                <a:latin typeface="Montserrat"/>
              </a:rPr>
              <a:t>Seraph · SRM IST ·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"/>
          <p:cNvSpPr txBox="1"/>
          <p:nvPr>
            <p:ph type="title"/>
          </p:nvPr>
        </p:nvSpPr>
        <p:spPr>
          <a:xfrm>
            <a:off x="841248" y="365760"/>
            <a:ext cx="768096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000">
                <a:solidFill>
                  <a:srgbClr val="6D28D9"/>
                </a:solidFill>
                <a:latin typeface="Montserrat"/>
                <a:ea typeface="Calibri"/>
                <a:cs typeface="Calibri"/>
                <a:sym typeface="Calibri"/>
              </a:rPr>
              <a:t>Existing Solutions &amp; Gaps</a:t>
            </a:r>
            <a:endParaRPr/>
          </a:p>
        </p:txBody>
      </p:sp>
      <p:pic>
        <p:nvPicPr>
          <p:cNvPr id="108" name="SRM logo" descr="s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0235" y="457200"/>
            <a:ext cx="1186613" cy="402336"/>
          </a:xfrm>
          <a:prstGeom prst="rect">
            <a:avLst/>
          </a:prstGeom>
        </p:spPr>
      </p:pic>
      <p:pic>
        <p:nvPicPr>
          <p:cNvPr id="109" name="Samsung logo" descr="samsu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3898" y="566928"/>
            <a:ext cx="1212017" cy="186537"/>
          </a:xfrm>
          <a:prstGeom prst="rect">
            <a:avLst/>
          </a:prstGeom>
        </p:spPr>
      </p:pic>
      <p:sp>
        <p:nvSpPr>
          <p:cNvPr id="110" name="TextBox 109"/>
          <p:cNvSpPr txBox="1"/>
          <p:nvPr/>
        </p:nvSpPr>
        <p:spPr>
          <a:xfrm>
            <a:off x="841248" y="14813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D28D9"/>
                </a:solidFill>
                <a:latin typeface="Montserrat"/>
              </a:rPr>
              <a:t>HOW AGENTS FIND CODE TODAY</a:t>
            </a:r>
          </a:p>
        </p:txBody>
      </p:sp>
      <p:graphicFrame>
        <p:nvGraphicFramePr>
          <p:cNvPr id="111" name="Table 110"/>
          <p:cNvGraphicFramePr>
            <a:graphicFrameLocks noGrp="1"/>
          </p:cNvGraphicFramePr>
          <p:nvPr/>
        </p:nvGraphicFramePr>
        <p:xfrm>
          <a:off x="841248" y="1874519"/>
          <a:ext cx="1051560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2743200"/>
                <a:gridCol w="4206240"/>
              </a:tblGrid>
              <a:tr h="713232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ontserrat"/>
                        </a:rPr>
                        <a:t>Approach</a:t>
                      </a:r>
                    </a:p>
                  </a:txBody>
                  <a:tcPr marL="128016" marR="128016" anchor="ctr">
                    <a:solidFill>
                      <a:srgbClr val="6D28D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ontserrat"/>
                        </a:rPr>
                        <a:t>Good at</a:t>
                      </a:r>
                    </a:p>
                  </a:txBody>
                  <a:tcPr marL="128016" marR="128016" anchor="ctr">
                    <a:solidFill>
                      <a:srgbClr val="6D28D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ontserrat"/>
                        </a:rPr>
                        <a:t>Gap Seraph closes</a:t>
                      </a:r>
                    </a:p>
                  </a:txBody>
                  <a:tcPr marL="128016" marR="128016" anchor="ctr">
                    <a:solidFill>
                      <a:srgbClr val="6D28D9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4142B"/>
                          </a:solidFill>
                          <a:latin typeface="Montserrat"/>
                        </a:rPr>
                        <a:t>grep / ripgrep loops in coding agents</a:t>
                      </a:r>
                    </a:p>
                  </a:txBody>
                  <a:tcPr marL="128016" marR="128016" anchor="ctr">
                    <a:solidFill>
                      <a:srgbClr val="F7F6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4A4A63"/>
                          </a:solidFill>
                          <a:latin typeface="Montserrat"/>
                        </a:rPr>
                        <a:t>Exact names and strings</a:t>
                      </a:r>
                    </a:p>
                  </a:txBody>
                  <a:tcPr marL="128016" marR="128016" anchor="ctr">
                    <a:solidFill>
                      <a:srgbClr val="F7F6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4A4A63"/>
                          </a:solidFill>
                          <a:latin typeface="Montserrat"/>
                        </a:rPr>
                        <a:t>Many tool calls when the name is unknown; no ranking</a:t>
                      </a:r>
                    </a:p>
                  </a:txBody>
                  <a:tcPr marL="128016" marR="128016" anchor="ctr">
                    <a:solidFill>
                      <a:srgbClr val="F7F6FC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4142B"/>
                          </a:solidFill>
                          <a:latin typeface="Montserrat"/>
                        </a:rPr>
                        <a:t>Embedding-only code indexes</a:t>
                      </a:r>
                    </a:p>
                  </a:txBody>
                  <a:tcPr marL="128016" marR="1280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4A4A63"/>
                          </a:solidFill>
                          <a:latin typeface="Montserrat"/>
                        </a:rPr>
                        <a:t>Search by meaning</a:t>
                      </a:r>
                    </a:p>
                  </a:txBody>
                  <a:tcPr marL="128016" marR="1280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4A4A63"/>
                          </a:solidFill>
                          <a:latin typeface="Montserrat"/>
                        </a:rPr>
                        <a:t>One version of the code; no history, no structure signal</a:t>
                      </a:r>
                    </a:p>
                  </a:txBody>
                  <a:tcPr marL="128016" marR="128016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4142B"/>
                          </a:solidFill>
                          <a:latin typeface="Montserrat"/>
                        </a:rPr>
                        <a:t>Ask an LLM to rank snippets</a:t>
                      </a:r>
                    </a:p>
                  </a:txBody>
                  <a:tcPr marL="128016" marR="128016" anchor="ctr">
                    <a:solidFill>
                      <a:srgbClr val="F7F6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4A4A63"/>
                          </a:solidFill>
                          <a:latin typeface="Montserrat"/>
                        </a:rPr>
                        <a:t>Deep reading</a:t>
                      </a:r>
                    </a:p>
                  </a:txBody>
                  <a:tcPr marL="128016" marR="128016" anchor="ctr">
                    <a:solidFill>
                      <a:srgbClr val="F7F6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4A4A63"/>
                          </a:solidFill>
                          <a:latin typeface="Montserrat"/>
                        </a:rPr>
                        <a:t>Context window and latency limits on thousands of snippets</a:t>
                      </a:r>
                    </a:p>
                  </a:txBody>
                  <a:tcPr marL="128016" marR="128016" anchor="ctr">
                    <a:solidFill>
                      <a:srgbClr val="F7F6FC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4142B"/>
                          </a:solidFill>
                          <a:latin typeface="Montserrat"/>
                        </a:rPr>
                        <a:t>Generic text embedders</a:t>
                      </a:r>
                    </a:p>
                  </a:txBody>
                  <a:tcPr marL="128016" marR="1280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4A4A63"/>
                          </a:solidFill>
                          <a:latin typeface="Montserrat"/>
                        </a:rPr>
                        <a:t>Easy to plug in</a:t>
                      </a:r>
                    </a:p>
                  </a:txBody>
                  <a:tcPr marL="128016" marR="1280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4A4A63"/>
                          </a:solidFill>
                          <a:latin typeface="Montserrat"/>
                        </a:rPr>
                        <a:t>Weak on code: 0.16 to 0.51 nDCG@10 on stdin-style problems</a:t>
                      </a:r>
                    </a:p>
                  </a:txBody>
                  <a:tcPr marL="128016" marR="1280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2" name="TextBox 111"/>
          <p:cNvSpPr txBox="1"/>
          <p:nvPr/>
        </p:nvSpPr>
        <p:spPr>
          <a:xfrm>
            <a:off x="841248" y="57150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3637E"/>
                </a:solidFill>
                <a:latin typeface="Montserrat"/>
              </a:rPr>
              <a:t>Generic-embedder range from our own sweep (gte-modernbert, CodeSage, CodeRankEmbed, jina-code-v2) on the dev_stdin split.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41248" y="641908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3637E"/>
                </a:solidFill>
                <a:latin typeface="Montserrat"/>
              </a:rPr>
              <a:t>Seraph · SRM IST ·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"/>
          <p:cNvSpPr txBox="1"/>
          <p:nvPr>
            <p:ph type="title"/>
          </p:nvPr>
        </p:nvSpPr>
        <p:spPr>
          <a:xfrm>
            <a:off x="841248" y="365760"/>
            <a:ext cx="768096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000">
                <a:solidFill>
                  <a:srgbClr val="6D28D9"/>
                </a:solidFill>
                <a:latin typeface="Montserrat"/>
                <a:ea typeface="Calibri"/>
                <a:cs typeface="Calibri"/>
                <a:sym typeface="Calibri"/>
              </a:rPr>
              <a:t>Our Solution &amp; Architecture</a:t>
            </a:r>
            <a:endParaRPr/>
          </a:p>
        </p:txBody>
      </p:sp>
      <p:pic>
        <p:nvPicPr>
          <p:cNvPr id="114" name="SRM logo" descr="s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0235" y="457200"/>
            <a:ext cx="1186613" cy="402336"/>
          </a:xfrm>
          <a:prstGeom prst="rect">
            <a:avLst/>
          </a:prstGeom>
        </p:spPr>
      </p:pic>
      <p:pic>
        <p:nvPicPr>
          <p:cNvPr id="115" name="Samsung logo" descr="samsu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3898" y="566928"/>
            <a:ext cx="1212017" cy="186537"/>
          </a:xfrm>
          <a:prstGeom prst="rect">
            <a:avLst/>
          </a:prstGeom>
        </p:spPr>
      </p:pic>
      <p:sp>
        <p:nvSpPr>
          <p:cNvPr id="116" name="TextBox 115"/>
          <p:cNvSpPr txBox="1"/>
          <p:nvPr/>
        </p:nvSpPr>
        <p:spPr>
          <a:xfrm>
            <a:off x="841248" y="14813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D28D9"/>
                </a:solidFill>
                <a:latin typeface="Montserrat"/>
              </a:rPr>
              <a:t>HOW SERAPH RANKS CODE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841248" y="2926080"/>
            <a:ext cx="1325880" cy="1005840"/>
          </a:xfrm>
          <a:prstGeom prst="roundRect">
            <a:avLst>
              <a:gd name="adj" fmla="val 8000"/>
            </a:avLst>
          </a:prstGeom>
          <a:solidFill>
            <a:srgbClr val="141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17043" bIns="117043"/>
          <a:lstStyle/>
          <a:p>
            <a:pPr algn="l"/>
            <a:r>
              <a:rPr sz="1500" b="1">
                <a:solidFill>
                  <a:srgbClr val="FFFFFF"/>
                </a:solidFill>
                <a:latin typeface="Montserrat"/>
              </a:rPr>
              <a:t>Query</a:t>
            </a:r>
          </a:p>
          <a:p>
            <a:pPr algn="l"/>
            <a:r>
              <a:rPr sz="1100" b="0">
                <a:solidFill>
                  <a:srgbClr val="FFFFFF"/>
                </a:solidFill>
                <a:latin typeface="Montserrat"/>
              </a:rPr>
              <a:t>plain English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2578608" y="2926080"/>
            <a:ext cx="1737360" cy="1005840"/>
          </a:xfrm>
          <a:prstGeom prst="roundRect">
            <a:avLst>
              <a:gd name="adj" fmla="val 8000"/>
            </a:avLst>
          </a:prstGeom>
          <a:solidFill>
            <a:srgbClr val="F7F6FC"/>
          </a:solidFill>
          <a:ln w="12700">
            <a:solidFill>
              <a:srgbClr val="D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17043" bIns="117043"/>
          <a:lstStyle/>
          <a:p>
            <a:pPr algn="l"/>
            <a:r>
              <a:rPr sz="1500" b="1">
                <a:solidFill>
                  <a:srgbClr val="14142B"/>
                </a:solidFill>
                <a:latin typeface="Montserrat"/>
              </a:rPr>
              <a:t>Analyzer</a:t>
            </a:r>
          </a:p>
          <a:p>
            <a:pPr algn="l"/>
            <a:r>
              <a:rPr sz="1100" b="0">
                <a:solidFill>
                  <a:srgbClr val="4A4A63"/>
                </a:solidFill>
                <a:latin typeface="Montserrat"/>
              </a:rPr>
              <a:t>parse · classify · decompose</a:t>
            </a:r>
          </a:p>
        </p:txBody>
      </p:sp>
      <p:cxnSp>
        <p:nvCxnSpPr>
          <p:cNvPr id="119" name="Connector 118"/>
          <p:cNvCxnSpPr/>
          <p:nvPr/>
        </p:nvCxnSpPr>
        <p:spPr>
          <a:xfrm>
            <a:off x="2185416" y="3429000"/>
            <a:ext cx="374904" cy="0"/>
          </a:xfrm>
          <a:prstGeom prst="line">
            <a:avLst/>
          </a:prstGeom>
          <a:ln w="22225">
            <a:solidFill>
              <a:srgbClr val="63637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Rounded Rectangle 119"/>
          <p:cNvSpPr/>
          <p:nvPr/>
        </p:nvSpPr>
        <p:spPr>
          <a:xfrm>
            <a:off x="4727448" y="1874519"/>
            <a:ext cx="2331720" cy="512064"/>
          </a:xfrm>
          <a:prstGeom prst="roundRect">
            <a:avLst>
              <a:gd name="adj" fmla="val 8000"/>
            </a:avLst>
          </a:prstGeom>
          <a:solidFill>
            <a:srgbClr val="EFEAFB"/>
          </a:solidFill>
          <a:ln w="12700">
            <a:solidFill>
              <a:srgbClr val="D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87782" bIns="87782"/>
          <a:lstStyle/>
          <a:p>
            <a:pPr algn="l"/>
            <a:r>
              <a:rPr sz="1200" b="1">
                <a:solidFill>
                  <a:srgbClr val="6D28D9"/>
                </a:solidFill>
                <a:latin typeface="Montserrat"/>
              </a:rPr>
              <a:t>α lexical  </a:t>
            </a:r>
            <a:r>
              <a:rPr sz="1100" b="0">
                <a:solidFill>
                  <a:srgbClr val="4A4A63"/>
                </a:solidFill>
                <a:latin typeface="Montserrat"/>
              </a:rPr>
              <a:t>BM25, code-aware</a:t>
            </a:r>
          </a:p>
        </p:txBody>
      </p:sp>
      <p:cxnSp>
        <p:nvCxnSpPr>
          <p:cNvPr id="121" name="Connector 120"/>
          <p:cNvCxnSpPr/>
          <p:nvPr/>
        </p:nvCxnSpPr>
        <p:spPr>
          <a:xfrm flipV="1">
            <a:off x="4315968" y="2130552"/>
            <a:ext cx="393192" cy="1298448"/>
          </a:xfrm>
          <a:prstGeom prst="line">
            <a:avLst/>
          </a:prstGeom>
          <a:ln w="15875">
            <a:solidFill>
              <a:srgbClr val="D9D3F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7077455" y="2130552"/>
            <a:ext cx="374905" cy="1298448"/>
          </a:xfrm>
          <a:prstGeom prst="line">
            <a:avLst/>
          </a:prstGeom>
          <a:ln w="15875">
            <a:solidFill>
              <a:srgbClr val="D9D3F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Rounded Rectangle 122"/>
          <p:cNvSpPr/>
          <p:nvPr/>
        </p:nvSpPr>
        <p:spPr>
          <a:xfrm>
            <a:off x="4727448" y="2496312"/>
            <a:ext cx="2331720" cy="512064"/>
          </a:xfrm>
          <a:prstGeom prst="roundRect">
            <a:avLst>
              <a:gd name="adj" fmla="val 8000"/>
            </a:avLst>
          </a:prstGeom>
          <a:solidFill>
            <a:srgbClr val="EFEAFB"/>
          </a:solidFill>
          <a:ln w="12700">
            <a:solidFill>
              <a:srgbClr val="D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87782" bIns="87782"/>
          <a:lstStyle/>
          <a:p>
            <a:pPr algn="l"/>
            <a:r>
              <a:rPr sz="1200" b="1">
                <a:solidFill>
                  <a:srgbClr val="6D28D9"/>
                </a:solidFill>
                <a:latin typeface="Montserrat"/>
              </a:rPr>
              <a:t>β semantic  </a:t>
            </a:r>
            <a:r>
              <a:rPr sz="1100" b="0">
                <a:solidFill>
                  <a:srgbClr val="4A4A63"/>
                </a:solidFill>
                <a:latin typeface="Montserrat"/>
              </a:rPr>
              <a:t>BGE-Code-v1</a:t>
            </a:r>
          </a:p>
        </p:txBody>
      </p:sp>
      <p:cxnSp>
        <p:nvCxnSpPr>
          <p:cNvPr id="124" name="Connector 123"/>
          <p:cNvCxnSpPr/>
          <p:nvPr/>
        </p:nvCxnSpPr>
        <p:spPr>
          <a:xfrm flipV="1">
            <a:off x="4315968" y="2752344"/>
            <a:ext cx="393192" cy="676656"/>
          </a:xfrm>
          <a:prstGeom prst="line">
            <a:avLst/>
          </a:prstGeom>
          <a:ln w="15875">
            <a:solidFill>
              <a:srgbClr val="D9D3F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7077455" y="2752344"/>
            <a:ext cx="374905" cy="676656"/>
          </a:xfrm>
          <a:prstGeom prst="line">
            <a:avLst/>
          </a:prstGeom>
          <a:ln w="15875">
            <a:solidFill>
              <a:srgbClr val="D9D3F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Rounded Rectangle 125"/>
          <p:cNvSpPr/>
          <p:nvPr/>
        </p:nvSpPr>
        <p:spPr>
          <a:xfrm>
            <a:off x="4727448" y="3118104"/>
            <a:ext cx="2331720" cy="512064"/>
          </a:xfrm>
          <a:prstGeom prst="roundRect">
            <a:avLst>
              <a:gd name="adj" fmla="val 8000"/>
            </a:avLst>
          </a:prstGeom>
          <a:solidFill>
            <a:srgbClr val="EFEAFB"/>
          </a:solidFill>
          <a:ln w="12700">
            <a:solidFill>
              <a:srgbClr val="D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87782" bIns="87782"/>
          <a:lstStyle/>
          <a:p>
            <a:pPr algn="l"/>
            <a:r>
              <a:rPr sz="1200" b="1">
                <a:solidFill>
                  <a:srgbClr val="6D28D9"/>
                </a:solidFill>
                <a:latin typeface="Montserrat"/>
              </a:rPr>
              <a:t>γ structural  </a:t>
            </a:r>
            <a:r>
              <a:rPr sz="1100" b="0">
                <a:solidFill>
                  <a:srgbClr val="4A4A63"/>
                </a:solidFill>
                <a:latin typeface="Montserrat"/>
              </a:rPr>
              <a:t>62 traits</a:t>
            </a:r>
          </a:p>
        </p:txBody>
      </p:sp>
      <p:cxnSp>
        <p:nvCxnSpPr>
          <p:cNvPr id="127" name="Connector 126"/>
          <p:cNvCxnSpPr/>
          <p:nvPr/>
        </p:nvCxnSpPr>
        <p:spPr>
          <a:xfrm flipV="1">
            <a:off x="4315968" y="3374136"/>
            <a:ext cx="393192" cy="54864"/>
          </a:xfrm>
          <a:prstGeom prst="line">
            <a:avLst/>
          </a:prstGeom>
          <a:ln w="15875">
            <a:solidFill>
              <a:srgbClr val="D9D3F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>
            <a:off x="7077455" y="3374136"/>
            <a:ext cx="374905" cy="54864"/>
          </a:xfrm>
          <a:prstGeom prst="line">
            <a:avLst/>
          </a:prstGeom>
          <a:ln w="15875">
            <a:solidFill>
              <a:srgbClr val="D9D3F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Rounded Rectangle 128"/>
          <p:cNvSpPr/>
          <p:nvPr/>
        </p:nvSpPr>
        <p:spPr>
          <a:xfrm>
            <a:off x="4727448" y="3739896"/>
            <a:ext cx="2331720" cy="51206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87782" bIns="87782"/>
          <a:lstStyle/>
          <a:p>
            <a:pPr algn="l"/>
            <a:r>
              <a:rPr sz="1200" b="1">
                <a:solidFill>
                  <a:srgbClr val="63637E"/>
                </a:solidFill>
                <a:latin typeface="Montserrat"/>
              </a:rPr>
              <a:t>δ graph  </a:t>
            </a:r>
            <a:r>
              <a:rPr sz="1100" b="0">
                <a:solidFill>
                  <a:srgbClr val="4A4A63"/>
                </a:solidFill>
                <a:latin typeface="Montserrat"/>
              </a:rPr>
              <a:t>call graph</a:t>
            </a:r>
          </a:p>
        </p:txBody>
      </p:sp>
      <p:cxnSp>
        <p:nvCxnSpPr>
          <p:cNvPr id="130" name="Connector 129"/>
          <p:cNvCxnSpPr/>
          <p:nvPr/>
        </p:nvCxnSpPr>
        <p:spPr>
          <a:xfrm>
            <a:off x="4315968" y="3429000"/>
            <a:ext cx="393192" cy="566928"/>
          </a:xfrm>
          <a:prstGeom prst="line">
            <a:avLst/>
          </a:prstGeom>
          <a:ln w="15875">
            <a:solidFill>
              <a:srgbClr val="D9D3F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7077455" y="3429000"/>
            <a:ext cx="374905" cy="566928"/>
          </a:xfrm>
          <a:prstGeom prst="line">
            <a:avLst/>
          </a:prstGeom>
          <a:ln w="15875">
            <a:solidFill>
              <a:srgbClr val="D9D3F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Rounded Rectangle 131"/>
          <p:cNvSpPr/>
          <p:nvPr/>
        </p:nvSpPr>
        <p:spPr>
          <a:xfrm>
            <a:off x="4727448" y="4361688"/>
            <a:ext cx="2331720" cy="51206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87782" bIns="87782"/>
          <a:lstStyle/>
          <a:p>
            <a:pPr algn="l"/>
            <a:r>
              <a:rPr sz="1200" b="1">
                <a:solidFill>
                  <a:srgbClr val="63637E"/>
                </a:solidFill>
                <a:latin typeface="Montserrat"/>
              </a:rPr>
              <a:t>ε evolution  </a:t>
            </a:r>
            <a:r>
              <a:rPr sz="1100" b="0">
                <a:solidFill>
                  <a:srgbClr val="4A4A63"/>
                </a:solidFill>
                <a:latin typeface="Montserrat"/>
              </a:rPr>
              <a:t>lineage</a:t>
            </a:r>
          </a:p>
        </p:txBody>
      </p:sp>
      <p:cxnSp>
        <p:nvCxnSpPr>
          <p:cNvPr id="133" name="Connector 132"/>
          <p:cNvCxnSpPr/>
          <p:nvPr/>
        </p:nvCxnSpPr>
        <p:spPr>
          <a:xfrm>
            <a:off x="4315968" y="3429000"/>
            <a:ext cx="393192" cy="1188720"/>
          </a:xfrm>
          <a:prstGeom prst="line">
            <a:avLst/>
          </a:prstGeom>
          <a:ln w="15875">
            <a:solidFill>
              <a:srgbClr val="D9D3F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V="1">
            <a:off x="7077455" y="3429000"/>
            <a:ext cx="374905" cy="1188720"/>
          </a:xfrm>
          <a:prstGeom prst="line">
            <a:avLst/>
          </a:prstGeom>
          <a:ln w="15875">
            <a:solidFill>
              <a:srgbClr val="D9D3F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Rounded Rectangle 134"/>
          <p:cNvSpPr/>
          <p:nvPr/>
        </p:nvSpPr>
        <p:spPr>
          <a:xfrm>
            <a:off x="7470648" y="2926080"/>
            <a:ext cx="1417320" cy="1005840"/>
          </a:xfrm>
          <a:prstGeom prst="roundRect">
            <a:avLst>
              <a:gd name="adj" fmla="val 8000"/>
            </a:avLst>
          </a:prstGeom>
          <a:solidFill>
            <a:srgbClr val="F7F6FC"/>
          </a:solidFill>
          <a:ln w="12700">
            <a:solidFill>
              <a:srgbClr val="D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17043" bIns="117043"/>
          <a:lstStyle/>
          <a:p>
            <a:pPr algn="l"/>
            <a:r>
              <a:rPr sz="1500" b="1">
                <a:solidFill>
                  <a:srgbClr val="14142B"/>
                </a:solidFill>
                <a:latin typeface="Montserrat"/>
              </a:rPr>
              <a:t>Fusion</a:t>
            </a:r>
          </a:p>
          <a:p>
            <a:pPr algn="l"/>
            <a:r>
              <a:rPr sz="1100" b="0">
                <a:solidFill>
                  <a:srgbClr val="4A4A63"/>
                </a:solidFill>
                <a:latin typeface="Montserrat"/>
              </a:rPr>
              <a:t>weighted</a:t>
            </a:r>
          </a:p>
        </p:txBody>
      </p:sp>
      <p:cxnSp>
        <p:nvCxnSpPr>
          <p:cNvPr id="136" name="Connector 135"/>
          <p:cNvCxnSpPr/>
          <p:nvPr/>
        </p:nvCxnSpPr>
        <p:spPr>
          <a:xfrm>
            <a:off x="8906256" y="3429000"/>
            <a:ext cx="301752" cy="0"/>
          </a:xfrm>
          <a:prstGeom prst="line">
            <a:avLst/>
          </a:prstGeom>
          <a:ln w="22225">
            <a:solidFill>
              <a:srgbClr val="63637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Rounded Rectangle 136"/>
          <p:cNvSpPr/>
          <p:nvPr/>
        </p:nvSpPr>
        <p:spPr>
          <a:xfrm>
            <a:off x="9226296" y="2926080"/>
            <a:ext cx="114300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l"/>
            <a:r>
              <a:rPr sz="1400" b="1">
                <a:solidFill>
                  <a:srgbClr val="14142B"/>
                </a:solidFill>
                <a:latin typeface="Montserrat"/>
              </a:rPr>
              <a:t>Rerank</a:t>
            </a:r>
          </a:p>
          <a:p>
            <a:pPr algn="l"/>
            <a:r>
              <a:rPr sz="1100" b="0">
                <a:solidFill>
                  <a:srgbClr val="4A4A63"/>
                </a:solidFill>
                <a:latin typeface="Montserrat"/>
              </a:rPr>
              <a:t>optional</a:t>
            </a:r>
          </a:p>
        </p:txBody>
      </p:sp>
      <p:cxnSp>
        <p:nvCxnSpPr>
          <p:cNvPr id="138" name="Connector 137"/>
          <p:cNvCxnSpPr/>
          <p:nvPr/>
        </p:nvCxnSpPr>
        <p:spPr>
          <a:xfrm>
            <a:off x="10387584" y="3429000"/>
            <a:ext cx="219456" cy="0"/>
          </a:xfrm>
          <a:prstGeom prst="line">
            <a:avLst/>
          </a:prstGeom>
          <a:ln w="22225">
            <a:solidFill>
              <a:srgbClr val="63637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Rounded Rectangle 138"/>
          <p:cNvSpPr/>
          <p:nvPr/>
        </p:nvSpPr>
        <p:spPr>
          <a:xfrm>
            <a:off x="10625328" y="2926080"/>
            <a:ext cx="731520" cy="1005840"/>
          </a:xfrm>
          <a:prstGeom prst="roundRect">
            <a:avLst>
              <a:gd name="adj" fmla="val 8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Top-k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41248" y="521208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4A4A63"/>
                </a:solidFill>
                <a:latin typeface="Montserrat"/>
              </a:rPr>
              <a:t>Every view scores every candidate; fusion mixes them with weights 0.16 / 0.64 / 0.2, tuned on train/dev only. Dashed views run on real repositories, where there is a call graph and a history.</a:t>
            </a:r>
          </a:p>
          <a:p>
            <a:pPr algn="l"/>
            <a:r>
              <a:rPr sz="1300" b="1">
                <a:solidFill>
                  <a:srgbClr val="14142B"/>
                </a:solidFill>
                <a:latin typeface="Montserrat"/>
              </a:rPr>
              <a:t>Index: </a:t>
            </a:r>
            <a:r>
              <a:rPr sz="1300" b="0">
                <a:solidFill>
                  <a:srgbClr val="4A4A63"/>
                </a:solidFill>
                <a:latin typeface="Montserrat"/>
              </a:rPr>
              <a:t>tree-sitter symbol chunks per Git commit in SQLite, a call, import and inheritance graph, and symbol lineage that follows functions through renames and moves.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41248" y="641908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3637E"/>
                </a:solidFill>
                <a:latin typeface="Montserrat"/>
              </a:rPr>
              <a:t>Seraph · SRM IST ·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5"/>
          <p:cNvSpPr txBox="1"/>
          <p:nvPr>
            <p:ph type="title"/>
          </p:nvPr>
        </p:nvSpPr>
        <p:spPr>
          <a:xfrm>
            <a:off x="841248" y="365760"/>
            <a:ext cx="768096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000">
                <a:solidFill>
                  <a:srgbClr val="6D28D9"/>
                </a:solidFill>
                <a:latin typeface="Montserrat"/>
                <a:ea typeface="Calibri"/>
                <a:cs typeface="Calibri"/>
                <a:sym typeface="Calibri"/>
              </a:rPr>
              <a:t>Demo &amp; Product Walkthrough</a:t>
            </a:r>
            <a:endParaRPr/>
          </a:p>
        </p:txBody>
      </p:sp>
      <p:pic>
        <p:nvPicPr>
          <p:cNvPr id="120" name="SRM logo" descr="s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0235" y="457200"/>
            <a:ext cx="1186613" cy="402336"/>
          </a:xfrm>
          <a:prstGeom prst="rect">
            <a:avLst/>
          </a:prstGeom>
        </p:spPr>
      </p:pic>
      <p:pic>
        <p:nvPicPr>
          <p:cNvPr id="121" name="Samsung logo" descr="samsu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3898" y="566928"/>
            <a:ext cx="1212017" cy="186537"/>
          </a:xfrm>
          <a:prstGeom prst="rect">
            <a:avLst/>
          </a:prstGeom>
        </p:spPr>
      </p:pic>
      <p:sp>
        <p:nvSpPr>
          <p:cNvPr id="122" name="TextBox 121"/>
          <p:cNvSpPr txBox="1"/>
          <p:nvPr/>
        </p:nvSpPr>
        <p:spPr>
          <a:xfrm>
            <a:off x="841248" y="14813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D28D9"/>
                </a:solidFill>
                <a:latin typeface="Montserrat"/>
              </a:rPr>
              <a:t>SERAPH INSIDE THE MORPHEUS CODING AGENT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841248" y="1874519"/>
            <a:ext cx="2468880" cy="2788920"/>
          </a:xfrm>
          <a:prstGeom prst="roundRect">
            <a:avLst>
              <a:gd name="adj" fmla="val 8000"/>
            </a:avLst>
          </a:prstGeom>
          <a:solidFill>
            <a:srgbClr val="F7F6FC"/>
          </a:solidFill>
          <a:ln w="12700">
            <a:solidFill>
              <a:srgbClr val="D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46304" bIns="146304"/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6D28D9"/>
                </a:solidFill>
                <a:latin typeface="Montserrat"/>
              </a:rPr>
              <a:t>1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14142B"/>
                </a:solidFill>
                <a:latin typeface="Montserrat"/>
              </a:rPr>
              <a:t>Ask in plain English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3B5BDB"/>
                </a:solidFill>
                <a:latin typeface="Courier New"/>
              </a:rPr>
              <a:t>"where are MCP server processes started?"</a:t>
            </a:r>
          </a:p>
          <a:p>
            <a:pPr algn="l"/>
            <a:r>
              <a:rPr sz="1200" b="0">
                <a:solidFill>
                  <a:srgbClr val="4A4A63"/>
                </a:solidFill>
                <a:latin typeface="Montserrat"/>
              </a:rPr>
              <a:t>Top hit McpConnection.connect, search 2 ms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3520440" y="1874519"/>
            <a:ext cx="2468880" cy="2788920"/>
          </a:xfrm>
          <a:prstGeom prst="roundRect">
            <a:avLst>
              <a:gd name="adj" fmla="val 8000"/>
            </a:avLst>
          </a:prstGeom>
          <a:solidFill>
            <a:srgbClr val="F7F6FC"/>
          </a:solidFill>
          <a:ln w="12700">
            <a:solidFill>
              <a:srgbClr val="D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46304" bIns="146304"/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6D28D9"/>
                </a:solidFill>
                <a:latin typeface="Montserrat"/>
              </a:rPr>
              <a:t>2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14142B"/>
                </a:solidFill>
                <a:latin typeface="Montserrat"/>
              </a:rPr>
              <a:t>Switch versions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3B5BDB"/>
                </a:solidFill>
                <a:latin typeface="Courier New"/>
              </a:rPr>
              <a:t>index a new commit</a:t>
            </a:r>
          </a:p>
          <a:p>
            <a:pPr algn="l"/>
            <a:r>
              <a:rPr sz="1200" b="0">
                <a:solidFill>
                  <a:srgbClr val="4A4A63"/>
                </a:solidFill>
                <a:latin typeface="Montserrat"/>
              </a:rPr>
              <a:t>741 of 749 chunks reused, 186 ms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6199632" y="1874519"/>
            <a:ext cx="2468880" cy="2788920"/>
          </a:xfrm>
          <a:prstGeom prst="roundRect">
            <a:avLst>
              <a:gd name="adj" fmla="val 8000"/>
            </a:avLst>
          </a:prstGeom>
          <a:solidFill>
            <a:srgbClr val="F7F6FC"/>
          </a:solidFill>
          <a:ln w="12700">
            <a:solidFill>
              <a:srgbClr val="D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46304" bIns="146304"/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6D28D9"/>
                </a:solidFill>
                <a:latin typeface="Montserrat"/>
              </a:rPr>
              <a:t>3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14142B"/>
                </a:solidFill>
                <a:latin typeface="Montserrat"/>
              </a:rPr>
              <a:t>Search all versions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3B5BDB"/>
                </a:solidFill>
                <a:latin typeface="Courier New"/>
              </a:rPr>
              <a:t>search_history</a:t>
            </a:r>
          </a:p>
          <a:p>
            <a:pPr algn="l"/>
            <a:r>
              <a:rPr sz="1200" b="0">
                <a:solidFill>
                  <a:srgbClr val="4A4A63"/>
                </a:solidFill>
                <a:latin typeface="Montserrat"/>
              </a:rPr>
              <a:t>identical code shown once, tagged +N versions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8878824" y="1874519"/>
            <a:ext cx="2468880" cy="2788920"/>
          </a:xfrm>
          <a:prstGeom prst="roundRect">
            <a:avLst>
              <a:gd name="adj" fmla="val 8000"/>
            </a:avLst>
          </a:prstGeom>
          <a:solidFill>
            <a:srgbClr val="F7F6FC"/>
          </a:solidFill>
          <a:ln w="12700">
            <a:solidFill>
              <a:srgbClr val="D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46304" bIns="146304"/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6D28D9"/>
                </a:solidFill>
                <a:latin typeface="Montserrat"/>
              </a:rPr>
              <a:t>4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14142B"/>
                </a:solidFill>
                <a:latin typeface="Montserrat"/>
              </a:rPr>
              <a:t>Compare with grep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3B5BDB"/>
                </a:solidFill>
                <a:latin typeface="Courier New"/>
              </a:rPr>
              <a:t>/vs &lt;question&gt;</a:t>
            </a:r>
          </a:p>
          <a:p>
            <a:pPr algn="l"/>
            <a:r>
              <a:rPr sz="1200" b="0">
                <a:solidFill>
                  <a:srgbClr val="4A4A63"/>
                </a:solidFill>
                <a:latin typeface="Montserrat"/>
              </a:rPr>
              <a:t>Seraph's #1 is grep hit #277 of 399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841248" y="4937760"/>
            <a:ext cx="10515600" cy="1097280"/>
          </a:xfrm>
          <a:prstGeom prst="roundRect">
            <a:avLst>
              <a:gd name="adj" fmla="val 8000"/>
            </a:avLst>
          </a:prstGeom>
          <a:solidFill>
            <a:srgbClr val="141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F9C8F"/>
                </a:solidFill>
                <a:latin typeface="Courier New"/>
              </a:rPr>
              <a:t>$ </a:t>
            </a:r>
            <a:r>
              <a:rPr sz="1300" b="0">
                <a:solidFill>
                  <a:srgbClr val="FFFFFF"/>
                </a:solidFill>
                <a:latin typeface="Courier New"/>
              </a:rPr>
              <a:t>/vs where are mcp server processes started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Courier New"/>
              </a:rPr>
              <a:t>◈ SERAPH search 2 ms   1 McpConnection.connect  src/tools/mcp.ts:317</a:t>
            </a:r>
          </a:p>
          <a:p>
            <a:pPr algn="l"/>
            <a:r>
              <a:rPr sz="1200" b="0">
                <a:solidFill>
                  <a:srgbClr val="B8BCCC"/>
                </a:solidFill>
                <a:latin typeface="Courier New"/>
              </a:rPr>
              <a:t>◇ GREP 41 ms · 399 hits   1 README.md:49   2 README.md:51 ...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1248" y="612648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4142B"/>
                </a:solidFill>
                <a:latin typeface="Montserrat"/>
              </a:rPr>
              <a:t>Demo video: </a:t>
            </a:r>
            <a:r>
              <a:rPr sz="1100" b="0">
                <a:solidFill>
                  <a:srgbClr val="3B5BDB"/>
                </a:solidFill>
                <a:latin typeface="Montserrat"/>
              </a:rPr>
              <a:t>drive.google.com/drive/folders/1TbShN44FSyemdtEXjca11KWpaW50liuU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41248" y="641908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3637E"/>
                </a:solidFill>
                <a:latin typeface="Montserrat"/>
              </a:rPr>
              <a:t>Seraph · SRM IST ·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"/>
          <p:cNvSpPr txBox="1"/>
          <p:nvPr>
            <p:ph type="title"/>
          </p:nvPr>
        </p:nvSpPr>
        <p:spPr>
          <a:xfrm>
            <a:off x="841248" y="365760"/>
            <a:ext cx="768096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000">
                <a:solidFill>
                  <a:srgbClr val="6D28D9"/>
                </a:solidFill>
                <a:latin typeface="Montserrat"/>
                <a:ea typeface="Calibri"/>
                <a:cs typeface="Calibri"/>
                <a:sym typeface="Calibri"/>
              </a:rPr>
              <a:t>Tools and Tech Stack Used</a:t>
            </a:r>
            <a:endParaRPr b="1">
              <a:solidFill>
                <a:srgbClr val="704EA6"/>
              </a:solidFill>
            </a:endParaRPr>
          </a:p>
        </p:txBody>
      </p:sp>
      <p:pic>
        <p:nvPicPr>
          <p:cNvPr id="126" name="SRM logo" descr="s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0235" y="457200"/>
            <a:ext cx="1186613" cy="402336"/>
          </a:xfrm>
          <a:prstGeom prst="rect">
            <a:avLst/>
          </a:prstGeom>
        </p:spPr>
      </p:pic>
      <p:pic>
        <p:nvPicPr>
          <p:cNvPr id="127" name="Samsung logo" descr="samsu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3898" y="566928"/>
            <a:ext cx="1212017" cy="186537"/>
          </a:xfrm>
          <a:prstGeom prst="rect">
            <a:avLst/>
          </a:prstGeom>
        </p:spPr>
      </p:pic>
      <p:sp>
        <p:nvSpPr>
          <p:cNvPr id="128" name="TextBox 127"/>
          <p:cNvSpPr txBox="1"/>
          <p:nvPr/>
        </p:nvSpPr>
        <p:spPr>
          <a:xfrm>
            <a:off x="841248" y="14813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D28D9"/>
                </a:solidFill>
                <a:latin typeface="Montserrat"/>
              </a:rPr>
              <a:t>EVERYTHING RUNS LOCALLY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841248" y="1874519"/>
            <a:ext cx="5166360" cy="1188720"/>
          </a:xfrm>
          <a:prstGeom prst="roundRect">
            <a:avLst>
              <a:gd name="adj" fmla="val 8000"/>
            </a:avLst>
          </a:prstGeom>
          <a:solidFill>
            <a:srgbClr val="F7F6FC"/>
          </a:solidFill>
          <a:ln w="12700">
            <a:solidFill>
              <a:srgbClr val="D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46304" bIns="146304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6D28D9"/>
                </a:solidFill>
                <a:latin typeface="Montserrat"/>
              </a:rPr>
              <a:t>Retrieval</a:t>
            </a:r>
          </a:p>
          <a:p>
            <a:pPr algn="l"/>
            <a:r>
              <a:rPr sz="1200" b="0">
                <a:solidFill>
                  <a:srgbClr val="4A4A63"/>
                </a:solidFill>
                <a:latin typeface="Montserrat"/>
              </a:rPr>
              <a:t>Python 3.12 · uv · bm25s · sentence-transformers · PyTorch (CPU, CUDA, Apple MPS) · faiss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6190488" y="1874519"/>
            <a:ext cx="5166360" cy="1188720"/>
          </a:xfrm>
          <a:prstGeom prst="roundRect">
            <a:avLst>
              <a:gd name="adj" fmla="val 8000"/>
            </a:avLst>
          </a:prstGeom>
          <a:solidFill>
            <a:srgbClr val="F7F6FC"/>
          </a:solidFill>
          <a:ln w="12700">
            <a:solidFill>
              <a:srgbClr val="D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46304" bIns="146304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6D28D9"/>
                </a:solidFill>
                <a:latin typeface="Montserrat"/>
              </a:rPr>
              <a:t>Models</a:t>
            </a:r>
          </a:p>
          <a:p>
            <a:pPr algn="l"/>
            <a:r>
              <a:rPr sz="1200" b="0">
                <a:solidFill>
                  <a:srgbClr val="4A4A63"/>
                </a:solidFill>
                <a:latin typeface="Montserrat"/>
              </a:rPr>
              <a:t>BGE-Code-v1 (submitted) · Qwen3-Embedding · EmbeddingGemma · scikit-learn and LightGBM for the query models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841248" y="3246120"/>
            <a:ext cx="5166360" cy="1188720"/>
          </a:xfrm>
          <a:prstGeom prst="roundRect">
            <a:avLst>
              <a:gd name="adj" fmla="val 8000"/>
            </a:avLst>
          </a:prstGeom>
          <a:solidFill>
            <a:srgbClr val="F7F6FC"/>
          </a:solidFill>
          <a:ln w="12700">
            <a:solidFill>
              <a:srgbClr val="D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46304" bIns="146304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6D28D9"/>
                </a:solidFill>
                <a:latin typeface="Montserrat"/>
              </a:rPr>
              <a:t>Code parsing</a:t>
            </a:r>
          </a:p>
          <a:p>
            <a:pPr algn="l"/>
            <a:r>
              <a:rPr sz="1200" b="0">
                <a:solidFill>
                  <a:srgbClr val="4A4A63"/>
                </a:solidFill>
                <a:latin typeface="Montserrat"/>
              </a:rPr>
              <a:t>tree-sitter grammars for Python, TypeScript, JavaScript and Go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6190488" y="3246120"/>
            <a:ext cx="5166360" cy="1188720"/>
          </a:xfrm>
          <a:prstGeom prst="roundRect">
            <a:avLst>
              <a:gd name="adj" fmla="val 8000"/>
            </a:avLst>
          </a:prstGeom>
          <a:solidFill>
            <a:srgbClr val="F7F6FC"/>
          </a:solidFill>
          <a:ln w="12700">
            <a:solidFill>
              <a:srgbClr val="D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46304" bIns="146304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6D28D9"/>
                </a:solidFill>
                <a:latin typeface="Montserrat"/>
              </a:rPr>
              <a:t>Storage</a:t>
            </a:r>
          </a:p>
          <a:p>
            <a:pPr algn="l"/>
            <a:r>
              <a:rPr sz="1200" b="0">
                <a:solidFill>
                  <a:srgbClr val="4A4A63"/>
                </a:solidFill>
                <a:latin typeface="Montserrat"/>
              </a:rPr>
              <a:t>SQLite per-commit index · content-hashed embedding cache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841248" y="4617720"/>
            <a:ext cx="5166360" cy="1188720"/>
          </a:xfrm>
          <a:prstGeom prst="roundRect">
            <a:avLst>
              <a:gd name="adj" fmla="val 8000"/>
            </a:avLst>
          </a:prstGeom>
          <a:solidFill>
            <a:srgbClr val="F7F6FC"/>
          </a:solidFill>
          <a:ln w="12700">
            <a:solidFill>
              <a:srgbClr val="D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46304" bIns="146304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6D28D9"/>
                </a:solidFill>
                <a:latin typeface="Montserrat"/>
              </a:rPr>
              <a:t>Evaluation</a:t>
            </a:r>
          </a:p>
          <a:p>
            <a:pPr algn="l"/>
            <a:r>
              <a:rPr sz="1200" b="0">
                <a:solidFill>
                  <a:srgbClr val="4A4A63"/>
                </a:solidFill>
                <a:latin typeface="Montserrat"/>
              </a:rPr>
              <a:t>MTEB 2.x (AppsRetrieval, CoIR) · own metrics cross-checked to within 2e-6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6190488" y="4617720"/>
            <a:ext cx="5166360" cy="1188720"/>
          </a:xfrm>
          <a:prstGeom prst="roundRect">
            <a:avLst>
              <a:gd name="adj" fmla="val 8000"/>
            </a:avLst>
          </a:prstGeom>
          <a:solidFill>
            <a:srgbClr val="F7F6FC"/>
          </a:solidFill>
          <a:ln w="12700">
            <a:solidFill>
              <a:srgbClr val="D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46304" bIns="146304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6D28D9"/>
                </a:solidFill>
                <a:latin typeface="Montserrat"/>
              </a:rPr>
              <a:t>Agent integration</a:t>
            </a:r>
          </a:p>
          <a:p>
            <a:pPr algn="l"/>
            <a:r>
              <a:rPr sz="1200" b="0">
                <a:solidFill>
                  <a:srgbClr val="4A4A63"/>
                </a:solidFill>
                <a:latin typeface="Montserrat"/>
              </a:rPr>
              <a:t>MCP server (FastMCP) · Morpheus terminal agent (TypeScript, Ink) · Cloudflare Workers + OpenRouter for the capped demo model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41248" y="641908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3637E"/>
                </a:solidFill>
                <a:latin typeface="Montserrat"/>
              </a:rPr>
              <a:t>Seraph · SRM IST ·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7"/>
          <p:cNvSpPr txBox="1"/>
          <p:nvPr>
            <p:ph type="title"/>
          </p:nvPr>
        </p:nvSpPr>
        <p:spPr>
          <a:xfrm>
            <a:off x="841248" y="365760"/>
            <a:ext cx="768096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000">
                <a:solidFill>
                  <a:srgbClr val="6D28D9"/>
                </a:solidFill>
                <a:latin typeface="Montserrat"/>
                <a:ea typeface="Calibri"/>
                <a:cs typeface="Calibri"/>
                <a:sym typeface="Calibri"/>
              </a:rPr>
              <a:t>Impact &amp; Use Case</a:t>
            </a:r>
            <a:endParaRPr b="1">
              <a:solidFill>
                <a:srgbClr val="704EA6"/>
              </a:solidFill>
            </a:endParaRPr>
          </a:p>
        </p:txBody>
      </p:sp>
      <p:pic>
        <p:nvPicPr>
          <p:cNvPr id="132" name="SRM logo" descr="s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0235" y="457200"/>
            <a:ext cx="1186613" cy="402336"/>
          </a:xfrm>
          <a:prstGeom prst="rect">
            <a:avLst/>
          </a:prstGeom>
        </p:spPr>
      </p:pic>
      <p:pic>
        <p:nvPicPr>
          <p:cNvPr id="133" name="Samsung logo" descr="samsu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3898" y="566928"/>
            <a:ext cx="1212017" cy="186537"/>
          </a:xfrm>
          <a:prstGeom prst="rect">
            <a:avLst/>
          </a:prstGeom>
        </p:spPr>
      </p:pic>
      <p:sp>
        <p:nvSpPr>
          <p:cNvPr id="134" name="TextBox 133"/>
          <p:cNvSpPr txBox="1"/>
          <p:nvPr/>
        </p:nvSpPr>
        <p:spPr>
          <a:xfrm>
            <a:off x="841248" y="14813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D28D9"/>
                </a:solidFill>
                <a:latin typeface="Montserrat"/>
              </a:rPr>
              <a:t>WHO IT HELPS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841248" y="1874519"/>
            <a:ext cx="5166360" cy="1600200"/>
          </a:xfrm>
          <a:prstGeom prst="roundRect">
            <a:avLst>
              <a:gd name="adj" fmla="val 8000"/>
            </a:avLst>
          </a:prstGeom>
          <a:solidFill>
            <a:srgbClr val="F7F6FC"/>
          </a:solidFill>
          <a:ln w="12700">
            <a:solidFill>
              <a:srgbClr val="D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4142B"/>
                </a:solidFill>
                <a:latin typeface="Montserrat"/>
              </a:rPr>
              <a:t>Coding agents</a:t>
            </a:r>
          </a:p>
          <a:p>
            <a:pPr algn="l"/>
            <a:r>
              <a:rPr sz="1300" b="0">
                <a:solidFill>
                  <a:srgbClr val="4A4A63"/>
                </a:solidFill>
                <a:latin typeface="Montserrat"/>
              </a:rPr>
              <a:t>One search call returns ranked functions with paths and line ranges, instead of many grep-and-read rounds.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6190488" y="1874519"/>
            <a:ext cx="5166360" cy="1600200"/>
          </a:xfrm>
          <a:prstGeom prst="roundRect">
            <a:avLst>
              <a:gd name="adj" fmla="val 8000"/>
            </a:avLst>
          </a:prstGeom>
          <a:solidFill>
            <a:srgbClr val="F7F6FC"/>
          </a:solidFill>
          <a:ln w="12700">
            <a:solidFill>
              <a:srgbClr val="D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4142B"/>
                </a:solidFill>
                <a:latin typeface="Montserrat"/>
              </a:rPr>
              <a:t>Bug hunting across releases</a:t>
            </a:r>
          </a:p>
          <a:p>
            <a:pPr algn="l"/>
            <a:r>
              <a:rPr sz="1300" b="0">
                <a:solidFill>
                  <a:srgbClr val="4A4A63"/>
                </a:solidFill>
                <a:latin typeface="Montserrat"/>
              </a:rPr>
              <a:t>Compare two versions: changed symbols, dependencies and commits; follow a function through renames.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841248" y="3703320"/>
            <a:ext cx="5166360" cy="1600200"/>
          </a:xfrm>
          <a:prstGeom prst="roundRect">
            <a:avLst>
              <a:gd name="adj" fmla="val 8000"/>
            </a:avLst>
          </a:prstGeom>
          <a:solidFill>
            <a:srgbClr val="F7F6FC"/>
          </a:solidFill>
          <a:ln w="12700">
            <a:solidFill>
              <a:srgbClr val="D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4142B"/>
                </a:solidFill>
                <a:latin typeface="Montserrat"/>
              </a:rPr>
              <a:t>Large, fast-moving repos</a:t>
            </a:r>
          </a:p>
          <a:p>
            <a:pPr algn="l"/>
            <a:r>
              <a:rPr sz="1300" b="0">
                <a:solidFill>
                  <a:srgbClr val="4A4A63"/>
                </a:solidFill>
                <a:latin typeface="Montserrat"/>
              </a:rPr>
              <a:t>A new commit re-indexes only changed files: 3 files, 186 ms on the Morpheus repo.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6190488" y="3703320"/>
            <a:ext cx="5166360" cy="1600200"/>
          </a:xfrm>
          <a:prstGeom prst="roundRect">
            <a:avLst>
              <a:gd name="adj" fmla="val 8000"/>
            </a:avLst>
          </a:prstGeom>
          <a:solidFill>
            <a:srgbClr val="F7F6FC"/>
          </a:solidFill>
          <a:ln w="12700">
            <a:solidFill>
              <a:srgbClr val="D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4142B"/>
                </a:solidFill>
                <a:latin typeface="Montserrat"/>
              </a:rPr>
              <a:t>Privacy and cost</a:t>
            </a:r>
          </a:p>
          <a:p>
            <a:pPr algn="l"/>
            <a:r>
              <a:rPr sz="1300" b="0">
                <a:solidFill>
                  <a:srgbClr val="4A4A63"/>
                </a:solidFill>
                <a:latin typeface="Montserrat"/>
              </a:rPr>
              <a:t>Embedding, ranking and indexing run on the developer's machine, with no API calls.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841248" y="641908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3637E"/>
                </a:solidFill>
                <a:latin typeface="Montserrat"/>
              </a:rPr>
              <a:t>Seraph · SRM IST ·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8"/>
          <p:cNvSpPr txBox="1"/>
          <p:nvPr>
            <p:ph type="title"/>
          </p:nvPr>
        </p:nvSpPr>
        <p:spPr>
          <a:xfrm>
            <a:off x="841248" y="365760"/>
            <a:ext cx="768096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000">
                <a:solidFill>
                  <a:srgbClr val="6D28D9"/>
                </a:solidFill>
                <a:latin typeface="Montserrat"/>
                <a:ea typeface="Calibri"/>
                <a:cs typeface="Calibri"/>
                <a:sym typeface="Calibri"/>
              </a:rPr>
              <a:t>Innovation, Results &amp; Limitations</a:t>
            </a:r>
            <a:endParaRPr b="1" sz="4400">
              <a:solidFill>
                <a:srgbClr val="704EA6"/>
              </a:solidFill>
            </a:endParaRPr>
          </a:p>
        </p:txBody>
      </p:sp>
      <p:pic>
        <p:nvPicPr>
          <p:cNvPr id="138" name="SRM logo" descr="s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0235" y="457200"/>
            <a:ext cx="1186613" cy="402336"/>
          </a:xfrm>
          <a:prstGeom prst="rect">
            <a:avLst/>
          </a:prstGeom>
        </p:spPr>
      </p:pic>
      <p:pic>
        <p:nvPicPr>
          <p:cNvPr id="139" name="Samsung logo" descr="samsu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3898" y="566928"/>
            <a:ext cx="1212017" cy="186537"/>
          </a:xfrm>
          <a:prstGeom prst="rect">
            <a:avLst/>
          </a:prstGeom>
        </p:spPr>
      </p:pic>
      <p:sp>
        <p:nvSpPr>
          <p:cNvPr id="140" name="TextBox 139"/>
          <p:cNvSpPr txBox="1"/>
          <p:nvPr/>
        </p:nvSpPr>
        <p:spPr>
          <a:xfrm>
            <a:off x="841248" y="14813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D28D9"/>
                </a:solidFill>
                <a:latin typeface="Montserrat"/>
              </a:rPr>
              <a:t>COIR APPSRETRIEVAL · TEST SPLIT · 3,765 QUERIES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841248" y="1874519"/>
            <a:ext cx="3749039" cy="2240280"/>
          </a:xfrm>
          <a:prstGeom prst="roundRect">
            <a:avLst>
              <a:gd name="adj" fmla="val 8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19456" bIns="219456"/>
          <a:lstStyle/>
          <a:p>
            <a:pPr algn="l"/>
            <a:r>
              <a:rPr sz="4800" b="1">
                <a:solidFill>
                  <a:srgbClr val="FFFFFF"/>
                </a:solidFill>
                <a:latin typeface="Montserrat"/>
              </a:rPr>
              <a:t>0.9770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Montserrat"/>
              </a:rPr>
              <a:t>nDCG@10 · pipeline + BGE-Code-v1</a:t>
            </a:r>
          </a:p>
          <a:p>
            <a:pPr algn="l"/>
            <a:r>
              <a:rPr sz="1200" b="0">
                <a:solidFill>
                  <a:srgbClr val="E6DDFA"/>
                </a:solidFill>
                <a:latin typeface="Montserrat"/>
              </a:rPr>
              <a:t>MRR@10 0.970 · Recall@10 0.997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4846320" y="1874519"/>
            <a:ext cx="6492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4142B"/>
                </a:solidFill>
                <a:latin typeface="Montserrat"/>
              </a:rPr>
              <a:t>Ablation on dev_stdin, nDCG@10 (Qwen3 pipeline)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846320" y="2240280"/>
            <a:ext cx="21945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4A4A63"/>
                </a:solidFill>
                <a:latin typeface="Montserrat"/>
              </a:rPr>
              <a:t>BM25 only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86600" y="2276856"/>
            <a:ext cx="335219" cy="219456"/>
          </a:xfrm>
          <a:prstGeom prst="rect">
            <a:avLst/>
          </a:prstGeom>
          <a:solidFill>
            <a:srgbClr val="D9D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467539" y="2240280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14142B"/>
                </a:solidFill>
                <a:latin typeface="Montserrat"/>
              </a:rPr>
              <a:t>0.094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846320" y="2624328"/>
            <a:ext cx="21945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4A4A63"/>
                </a:solidFill>
                <a:latin typeface="Montserrat"/>
              </a:rPr>
              <a:t>Dense only (Qwen3-0.6B)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7086600" y="2660904"/>
            <a:ext cx="2574767" cy="219456"/>
          </a:xfrm>
          <a:prstGeom prst="rect">
            <a:avLst/>
          </a:prstGeom>
          <a:solidFill>
            <a:srgbClr val="D9D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9707087" y="2624328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14142B"/>
                </a:solidFill>
                <a:latin typeface="Montserrat"/>
              </a:rPr>
              <a:t>0.722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4846320" y="3008376"/>
            <a:ext cx="21945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4A4A63"/>
                </a:solidFill>
                <a:latin typeface="Montserrat"/>
              </a:rPr>
              <a:t>+ fusion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7086600" y="3044952"/>
            <a:ext cx="2617561" cy="219456"/>
          </a:xfrm>
          <a:prstGeom prst="rect">
            <a:avLst/>
          </a:prstGeom>
          <a:solidFill>
            <a:srgbClr val="D9D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9749881" y="300837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14142B"/>
                </a:solidFill>
                <a:latin typeface="Montserrat"/>
              </a:rPr>
              <a:t>0.734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46320" y="3392424"/>
            <a:ext cx="21945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4A4A63"/>
                </a:solidFill>
                <a:latin typeface="Montserrat"/>
              </a:rPr>
              <a:t>+ structural γ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7086600" y="3429000"/>
            <a:ext cx="2638958" cy="21945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9771278" y="3392424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14142B"/>
                </a:solidFill>
                <a:latin typeface="Montserrat"/>
              </a:rPr>
              <a:t>0.740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46320" y="3776472"/>
            <a:ext cx="21945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4A4A63"/>
                </a:solidFill>
                <a:latin typeface="Montserrat"/>
              </a:rPr>
              <a:t>+ Gemini rerank (API)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7086600" y="3813048"/>
            <a:ext cx="2874324" cy="219456"/>
          </a:xfrm>
          <a:prstGeom prst="rect">
            <a:avLst/>
          </a:prstGeom>
          <a:solidFill>
            <a:srgbClr val="2F9C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10006644" y="3776472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14142B"/>
                </a:solidFill>
                <a:latin typeface="Montserrat"/>
              </a:rPr>
              <a:t>0.806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841248" y="4343400"/>
            <a:ext cx="5166360" cy="1783080"/>
          </a:xfrm>
          <a:prstGeom prst="roundRect">
            <a:avLst>
              <a:gd name="adj" fmla="val 8000"/>
            </a:avLst>
          </a:prstGeom>
          <a:solidFill>
            <a:srgbClr val="F7F6FC"/>
          </a:solidFill>
          <a:ln w="12700">
            <a:solidFill>
              <a:srgbClr val="D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60934" bIns="160934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6D28D9"/>
                </a:solidFill>
                <a:latin typeface="Montserrat"/>
              </a:rPr>
              <a:t>Innovation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4A4A63"/>
                </a:solidFill>
                <a:latin typeface="Montserrat"/>
              </a:rPr>
              <a:t>Structural γ view predicts the traits of the answer (stdin, grids, BFS...) from the question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4A4A63"/>
                </a:solidFill>
                <a:latin typeface="Montserrat"/>
              </a:rPr>
              <a:t>Versioned index with chunk reuse, rename-aware symbol lineage and a cross-file call graph</a:t>
            </a:r>
          </a:p>
          <a:p>
            <a:pPr algn="l"/>
            <a:r>
              <a:rPr sz="1100" b="0">
                <a:solidFill>
                  <a:srgbClr val="4A4A63"/>
                </a:solidFill>
                <a:latin typeface="Montserrat"/>
              </a:rPr>
              <a:t>Same pipeline, swappable embedder: 0.749 with Qwen3, 0.977 with BGE-Code-v1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6190488" y="4343400"/>
            <a:ext cx="5166360" cy="1783080"/>
          </a:xfrm>
          <a:prstGeom prst="roundRect">
            <a:avLst>
              <a:gd name="adj" fmla="val 8000"/>
            </a:avLst>
          </a:prstGeom>
          <a:solidFill>
            <a:srgbClr val="F7F6FC"/>
          </a:solidFill>
          <a:ln w="12700">
            <a:solidFill>
              <a:srgbClr val="D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60934" bIns="160934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6D28D9"/>
                </a:solidFill>
                <a:latin typeface="Montserrat"/>
              </a:rPr>
              <a:t>Limitations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4A4A63"/>
                </a:solidFill>
                <a:latin typeface="Montserrat"/>
              </a:rPr>
              <a:t>BGE-Code-v1 likely saw overlapping public data; test matches its reported 98.08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4A4A63"/>
                </a:solidFill>
                <a:latin typeface="Montserrat"/>
              </a:rPr>
              <a:t>With BGE the extra views add nothing on APPS (0.9795 alone); test split was run three times</a:t>
            </a:r>
          </a:p>
          <a:p>
            <a:pPr algn="l"/>
            <a:r>
              <a:rPr sz="1100" b="0">
                <a:solidFill>
                  <a:srgbClr val="4A4A63"/>
                </a:solidFill>
                <a:latin typeface="Montserrat"/>
              </a:rPr>
              <a:t>Graph and lineage views are built but not benchmarked: APPS has no call graph or history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41248" y="641908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3637E"/>
                </a:solidFill>
                <a:latin typeface="Montserrat"/>
              </a:rPr>
              <a:t>Seraph · SRM IST ·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9"/>
          <p:cNvSpPr txBox="1"/>
          <p:nvPr>
            <p:ph type="title"/>
          </p:nvPr>
        </p:nvSpPr>
        <p:spPr>
          <a:xfrm>
            <a:off x="841248" y="365760"/>
            <a:ext cx="768096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000">
                <a:solidFill>
                  <a:srgbClr val="6D28D9"/>
                </a:solidFill>
                <a:latin typeface="Montserrat"/>
                <a:ea typeface="Calibri"/>
                <a:cs typeface="Calibri"/>
                <a:sym typeface="Calibri"/>
              </a:rPr>
              <a:t>What’s Next</a:t>
            </a:r>
            <a:endParaRPr b="1" sz="4400">
              <a:solidFill>
                <a:srgbClr val="704EA6"/>
              </a:solidFill>
            </a:endParaRPr>
          </a:p>
        </p:txBody>
      </p:sp>
      <p:pic>
        <p:nvPicPr>
          <p:cNvPr id="144" name="SRM logo" descr="s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0235" y="457200"/>
            <a:ext cx="1186613" cy="402336"/>
          </a:xfrm>
          <a:prstGeom prst="rect">
            <a:avLst/>
          </a:prstGeom>
        </p:spPr>
      </p:pic>
      <p:pic>
        <p:nvPicPr>
          <p:cNvPr id="145" name="Samsung logo" descr="samsu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3898" y="566928"/>
            <a:ext cx="1212017" cy="186537"/>
          </a:xfrm>
          <a:prstGeom prst="rect">
            <a:avLst/>
          </a:prstGeom>
        </p:spPr>
      </p:pic>
      <p:sp>
        <p:nvSpPr>
          <p:cNvPr id="146" name="TextBox 145"/>
          <p:cNvSpPr txBox="1"/>
          <p:nvPr/>
        </p:nvSpPr>
        <p:spPr>
          <a:xfrm>
            <a:off x="841248" y="14813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D28D9"/>
                </a:solidFill>
                <a:latin typeface="Montserrat"/>
              </a:rPr>
              <a:t>ROADMAP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841248" y="1874519"/>
            <a:ext cx="2468880" cy="3291840"/>
          </a:xfrm>
          <a:prstGeom prst="roundRect">
            <a:avLst>
              <a:gd name="adj" fmla="val 8000"/>
            </a:avLst>
          </a:prstGeom>
          <a:solidFill>
            <a:srgbClr val="F7F6FC"/>
          </a:solidFill>
          <a:ln w="12700">
            <a:solidFill>
              <a:srgbClr val="D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60934" bIns="160934"/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6D28D9"/>
                </a:solidFill>
                <a:latin typeface="Montserrat"/>
              </a:rPr>
              <a:t>01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14142B"/>
                </a:solidFill>
                <a:latin typeface="Montserrat"/>
              </a:rPr>
              <a:t>Local reranker</a:t>
            </a:r>
          </a:p>
          <a:p>
            <a:pPr algn="l"/>
            <a:r>
              <a:rPr sz="1200" b="0">
                <a:solidFill>
                  <a:srgbClr val="4A4A63"/>
                </a:solidFill>
                <a:latin typeface="Montserrat"/>
              </a:rPr>
              <a:t>Gemini listwise rerank gave +6.6 pts but costs 4.3 s per query; a local cross-encoder keeps it offline.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3520440" y="1874519"/>
            <a:ext cx="2468880" cy="3291840"/>
          </a:xfrm>
          <a:prstGeom prst="roundRect">
            <a:avLst>
              <a:gd name="adj" fmla="val 8000"/>
            </a:avLst>
          </a:prstGeom>
          <a:solidFill>
            <a:srgbClr val="F7F6FC"/>
          </a:solidFill>
          <a:ln w="12700">
            <a:solidFill>
              <a:srgbClr val="D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60934" bIns="160934"/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6D28D9"/>
                </a:solidFill>
                <a:latin typeface="Montserrat"/>
              </a:rPr>
              <a:t>02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14142B"/>
                </a:solidFill>
                <a:latin typeface="Montserrat"/>
              </a:rPr>
              <a:t>SeraphBench</a:t>
            </a:r>
          </a:p>
          <a:p>
            <a:pPr algn="l"/>
            <a:r>
              <a:rPr sz="1200" b="0">
                <a:solidFill>
                  <a:srgbClr val="4A4A63"/>
                </a:solidFill>
                <a:latin typeface="Montserrat"/>
              </a:rPr>
              <a:t>A repo-level benchmark from real Git histories to measure the graph, evolution and dedup views.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6199632" y="1874519"/>
            <a:ext cx="2468880" cy="3291840"/>
          </a:xfrm>
          <a:prstGeom prst="roundRect">
            <a:avLst>
              <a:gd name="adj" fmla="val 8000"/>
            </a:avLst>
          </a:prstGeom>
          <a:solidFill>
            <a:srgbClr val="F7F6FC"/>
          </a:solidFill>
          <a:ln w="12700">
            <a:solidFill>
              <a:srgbClr val="D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60934" bIns="160934"/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6D28D9"/>
                </a:solidFill>
                <a:latin typeface="Montserrat"/>
              </a:rPr>
              <a:t>03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14142B"/>
                </a:solidFill>
                <a:latin typeface="Montserrat"/>
              </a:rPr>
              <a:t>Adaptive weights</a:t>
            </a:r>
          </a:p>
          <a:p>
            <a:pPr algn="l"/>
            <a:r>
              <a:rPr sz="1200" b="0">
                <a:solidFill>
                  <a:srgbClr val="4A4A63"/>
                </a:solidFill>
                <a:latin typeface="Montserrat"/>
              </a:rPr>
              <a:t>A per-query oracle sits 4.4 to 5.7 pts above static weights; mixed query types should unlock it.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8878824" y="1874519"/>
            <a:ext cx="2468880" cy="3291840"/>
          </a:xfrm>
          <a:prstGeom prst="roundRect">
            <a:avLst>
              <a:gd name="adj" fmla="val 8000"/>
            </a:avLst>
          </a:prstGeom>
          <a:solidFill>
            <a:srgbClr val="F7F6FC"/>
          </a:solidFill>
          <a:ln w="12700">
            <a:solidFill>
              <a:srgbClr val="D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60934" bIns="160934"/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6D28D9"/>
                </a:solidFill>
                <a:latin typeface="Montserrat"/>
              </a:rPr>
              <a:t>04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14142B"/>
                </a:solidFill>
                <a:latin typeface="Montserrat"/>
              </a:rPr>
              <a:t>Faster CPU mode</a:t>
            </a:r>
          </a:p>
          <a:p>
            <a:pPr algn="l"/>
            <a:r>
              <a:rPr sz="1200" b="0">
                <a:solidFill>
                  <a:srgbClr val="4A4A63"/>
                </a:solidFill>
                <a:latin typeface="Montserrat"/>
              </a:rPr>
              <a:t>A smaller embedder such as EmbeddingGemma-300M for laptops without a GPU, plus measured CPU timings.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41248" y="641908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3637E"/>
                </a:solidFill>
                <a:latin typeface="Montserrat"/>
              </a:rPr>
              <a:t>Seraph · SRM IST ·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0"/>
          <p:cNvSpPr txBox="1"/>
          <p:nvPr>
            <p:ph type="title"/>
          </p:nvPr>
        </p:nvSpPr>
        <p:spPr>
          <a:xfrm>
            <a:off x="841248" y="365760"/>
            <a:ext cx="768096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000">
                <a:solidFill>
                  <a:srgbClr val="6D28D9"/>
                </a:solidFill>
                <a:latin typeface="Montserrat"/>
                <a:ea typeface="Calibri"/>
                <a:cs typeface="Calibri"/>
                <a:sym typeface="Calibri"/>
              </a:rPr>
              <a:t>Brownie Points (Differentiation)</a:t>
            </a:r>
            <a:endParaRPr b="1" sz="4400">
              <a:solidFill>
                <a:srgbClr val="704EA6"/>
              </a:solidFill>
            </a:endParaRPr>
          </a:p>
        </p:txBody>
      </p:sp>
      <p:pic>
        <p:nvPicPr>
          <p:cNvPr id="150" name="SRM logo" descr="s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0235" y="457200"/>
            <a:ext cx="1186613" cy="402336"/>
          </a:xfrm>
          <a:prstGeom prst="rect">
            <a:avLst/>
          </a:prstGeom>
        </p:spPr>
      </p:pic>
      <p:pic>
        <p:nvPicPr>
          <p:cNvPr id="151" name="Samsung logo" descr="samsu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3898" y="566928"/>
            <a:ext cx="1212017" cy="186537"/>
          </a:xfrm>
          <a:prstGeom prst="rect">
            <a:avLst/>
          </a:prstGeom>
        </p:spPr>
      </p:pic>
      <p:sp>
        <p:nvSpPr>
          <p:cNvPr id="152" name="TextBox 151"/>
          <p:cNvSpPr txBox="1"/>
          <p:nvPr/>
        </p:nvSpPr>
        <p:spPr>
          <a:xfrm>
            <a:off x="841248" y="14813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D28D9"/>
                </a:solidFill>
                <a:latin typeface="Montserrat"/>
              </a:rPr>
              <a:t>WHAT GOES BEYOND THE SCREENING TASK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841248" y="1874519"/>
            <a:ext cx="5166360" cy="1600200"/>
          </a:xfrm>
          <a:prstGeom prst="roundRect">
            <a:avLst>
              <a:gd name="adj" fmla="val 8000"/>
            </a:avLst>
          </a:prstGeom>
          <a:solidFill>
            <a:srgbClr val="F7F6FC"/>
          </a:solidFill>
          <a:ln w="12700">
            <a:solidFill>
              <a:srgbClr val="D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4142B"/>
                </a:solidFill>
                <a:latin typeface="Montserrat"/>
              </a:rPr>
              <a:t>Version-aware by design</a:t>
            </a:r>
          </a:p>
          <a:p>
            <a:pPr algn="l"/>
            <a:r>
              <a:rPr sz="1300" b="0">
                <a:solidFill>
                  <a:srgbClr val="4A4A63"/>
                </a:solidFill>
                <a:latin typeface="Montserrat"/>
              </a:rPr>
              <a:t>Search any version or all of them; functions are followed through renames and moves, and compare shows what changed between two refs.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6190488" y="1874519"/>
            <a:ext cx="5166360" cy="1600200"/>
          </a:xfrm>
          <a:prstGeom prst="roundRect">
            <a:avLst>
              <a:gd name="adj" fmla="val 8000"/>
            </a:avLst>
          </a:prstGeom>
          <a:solidFill>
            <a:srgbClr val="F7F6FC"/>
          </a:solidFill>
          <a:ln w="12700">
            <a:solidFill>
              <a:srgbClr val="D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4142B"/>
                </a:solidFill>
                <a:latin typeface="Montserrat"/>
              </a:rPr>
              <a:t>Built into a real agent</a:t>
            </a:r>
          </a:p>
          <a:p>
            <a:pPr algn="l"/>
            <a:r>
              <a:rPr sz="1300" b="0">
                <a:solidFill>
                  <a:srgbClr val="4A4A63"/>
                </a:solidFill>
                <a:latin typeface="Montserrat"/>
              </a:rPr>
              <a:t>Seven MCP tools (search, history, symbols, dependencies, compare) used by Morpheus, with ranked result cards.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841248" y="3703320"/>
            <a:ext cx="5166360" cy="1600200"/>
          </a:xfrm>
          <a:prstGeom prst="roundRect">
            <a:avLst>
              <a:gd name="adj" fmla="val 8000"/>
            </a:avLst>
          </a:prstGeom>
          <a:solidFill>
            <a:srgbClr val="F7F6FC"/>
          </a:solidFill>
          <a:ln w="12700">
            <a:solidFill>
              <a:srgbClr val="D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4142B"/>
                </a:solidFill>
                <a:latin typeface="Montserrat"/>
              </a:rPr>
              <a:t>Zero-setup demo</a:t>
            </a:r>
          </a:p>
          <a:p>
            <a:pPr algn="l"/>
            <a:r>
              <a:rPr sz="1300" b="0">
                <a:solidFill>
                  <a:srgbClr val="4A4A63"/>
                </a:solidFill>
                <a:latin typeface="Montserrat"/>
              </a:rPr>
              <a:t>Morpheus runs on a capped cloud model when no key is set, and says so on screen.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6190488" y="3703320"/>
            <a:ext cx="5166360" cy="1600200"/>
          </a:xfrm>
          <a:prstGeom prst="roundRect">
            <a:avLst>
              <a:gd name="adj" fmla="val 8000"/>
            </a:avLst>
          </a:prstGeom>
          <a:solidFill>
            <a:srgbClr val="F7F6FC"/>
          </a:solidFill>
          <a:ln w="12700">
            <a:solidFill>
              <a:srgbClr val="D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4142B"/>
                </a:solidFill>
                <a:latin typeface="Montserrat"/>
              </a:rPr>
              <a:t>Honest evaluation</a:t>
            </a:r>
          </a:p>
          <a:p>
            <a:pPr algn="l"/>
            <a:r>
              <a:rPr sz="1300" b="0">
                <a:solidFill>
                  <a:srgbClr val="4A4A63"/>
                </a:solidFill>
                <a:latin typeface="Montserrat"/>
              </a:rPr>
              <a:t>Metrics cross-checked against MTEB to within 2e-6; train, dev and test kept apart; every run logged with its config hash.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41248" y="641908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3637E"/>
                </a:solidFill>
                <a:latin typeface="Montserrat"/>
              </a:rPr>
              <a:t>Seraph · SRM IST ·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1"/>
          <p:cNvSpPr txBox="1"/>
          <p:nvPr>
            <p:ph type="title"/>
          </p:nvPr>
        </p:nvSpPr>
        <p:spPr>
          <a:xfrm>
            <a:off x="841248" y="365760"/>
            <a:ext cx="768096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000">
                <a:solidFill>
                  <a:srgbClr val="6D28D9"/>
                </a:solidFill>
                <a:latin typeface="Montserrat"/>
                <a:ea typeface="Calibri"/>
                <a:cs typeface="Calibri"/>
                <a:sym typeface="Calibri"/>
              </a:rPr>
              <a:t>Checklist - Updated on Public GitHub</a:t>
            </a:r>
            <a:endParaRPr/>
          </a:p>
        </p:txBody>
      </p:sp>
      <p:pic>
        <p:nvPicPr>
          <p:cNvPr id="156" name="SRM logo" descr="s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0235" y="457200"/>
            <a:ext cx="1186613" cy="402336"/>
          </a:xfrm>
          <a:prstGeom prst="rect">
            <a:avLst/>
          </a:prstGeom>
        </p:spPr>
      </p:pic>
      <p:pic>
        <p:nvPicPr>
          <p:cNvPr id="157" name="Samsung logo" descr="samsu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3898" y="566928"/>
            <a:ext cx="1212017" cy="186537"/>
          </a:xfrm>
          <a:prstGeom prst="rect">
            <a:avLst/>
          </a:prstGeom>
        </p:spPr>
      </p:pic>
      <p:sp>
        <p:nvSpPr>
          <p:cNvPr id="158" name="Rounded Rectangle 157"/>
          <p:cNvSpPr/>
          <p:nvPr/>
        </p:nvSpPr>
        <p:spPr>
          <a:xfrm>
            <a:off x="841248" y="1828800"/>
            <a:ext cx="10515600" cy="640080"/>
          </a:xfrm>
          <a:prstGeom prst="roundRect">
            <a:avLst>
              <a:gd name="adj" fmla="val 8000"/>
            </a:avLst>
          </a:prstGeom>
          <a:solidFill>
            <a:srgbClr val="F7F6FC"/>
          </a:solidFill>
          <a:ln w="12700">
            <a:solidFill>
              <a:srgbClr val="D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l"/>
            <a:r>
              <a:rPr sz="1500" b="1">
                <a:solidFill>
                  <a:srgbClr val="14142B"/>
                </a:solidFill>
                <a:latin typeface="Montserrat"/>
              </a:rPr>
              <a:t>Working prototype code: public GitHub repo</a:t>
            </a:r>
            <a:r>
              <a:rPr sz="1200" b="0">
                <a:solidFill>
                  <a:srgbClr val="63637E"/>
                </a:solidFill>
                <a:latin typeface="Montserrat"/>
              </a:rPr>
              <a:t>    github.com/wtfPrethiv/seraph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10168128" y="1929384"/>
            <a:ext cx="1005840" cy="438912"/>
          </a:xfrm>
          <a:prstGeom prst="roundRect">
            <a:avLst>
              <a:gd name="adj" fmla="val 8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Y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841248" y="2578608"/>
            <a:ext cx="10515600" cy="640080"/>
          </a:xfrm>
          <a:prstGeom prst="roundRect">
            <a:avLst>
              <a:gd name="adj" fmla="val 8000"/>
            </a:avLst>
          </a:prstGeom>
          <a:solidFill>
            <a:srgbClr val="F7F6FC"/>
          </a:solidFill>
          <a:ln w="12700">
            <a:solidFill>
              <a:srgbClr val="D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l"/>
            <a:r>
              <a:rPr sz="1500" b="1">
                <a:solidFill>
                  <a:srgbClr val="14142B"/>
                </a:solidFill>
                <a:latin typeface="Montserrat"/>
              </a:rPr>
              <a:t>README with reproducible setup instructions</a:t>
            </a:r>
            <a:r>
              <a:rPr sz="1200" b="0">
                <a:solidFill>
                  <a:srgbClr val="63637E"/>
                </a:solidFill>
                <a:latin typeface="Montserrat"/>
              </a:rPr>
              <a:t>    Results, setup, CLI, MCP and Morpheus sections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10168128" y="2679191"/>
            <a:ext cx="1005840" cy="438912"/>
          </a:xfrm>
          <a:prstGeom prst="roundRect">
            <a:avLst>
              <a:gd name="adj" fmla="val 8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Y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841248" y="3328415"/>
            <a:ext cx="10515600" cy="640080"/>
          </a:xfrm>
          <a:prstGeom prst="roundRect">
            <a:avLst>
              <a:gd name="adj" fmla="val 8000"/>
            </a:avLst>
          </a:prstGeom>
          <a:solidFill>
            <a:srgbClr val="F7F6FC"/>
          </a:solidFill>
          <a:ln w="12700">
            <a:solidFill>
              <a:srgbClr val="D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l"/>
            <a:r>
              <a:rPr sz="1500" b="1">
                <a:solidFill>
                  <a:srgbClr val="14142B"/>
                </a:solidFill>
                <a:latin typeface="Montserrat"/>
              </a:rPr>
              <a:t>Demo video, max 5 minutes</a:t>
            </a:r>
            <a:r>
              <a:rPr sz="1200" b="0">
                <a:solidFill>
                  <a:srgbClr val="63637E"/>
                </a:solidFill>
                <a:latin typeface="Montserrat"/>
              </a:rPr>
              <a:t>    Google Drive: drive.google.com/drive/…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10168128" y="3428999"/>
            <a:ext cx="1005840" cy="438912"/>
          </a:xfrm>
          <a:prstGeom prst="roundRect">
            <a:avLst>
              <a:gd name="adj" fmla="val 8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Y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841248" y="4078224"/>
            <a:ext cx="10515600" cy="640080"/>
          </a:xfrm>
          <a:prstGeom prst="roundRect">
            <a:avLst>
              <a:gd name="adj" fmla="val 8000"/>
            </a:avLst>
          </a:prstGeom>
          <a:solidFill>
            <a:srgbClr val="F7F6FC"/>
          </a:solidFill>
          <a:ln w="12700">
            <a:solidFill>
              <a:srgbClr val="D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l"/>
            <a:r>
              <a:rPr sz="1500" b="1">
                <a:solidFill>
                  <a:srgbClr val="14142B"/>
                </a:solidFill>
                <a:latin typeface="Montserrat"/>
              </a:rPr>
              <a:t>Presentation file (PPT or PDF)</a:t>
            </a:r>
            <a:r>
              <a:rPr sz="1200" b="0">
                <a:solidFill>
                  <a:srgbClr val="63637E"/>
                </a:solidFill>
                <a:latin typeface="Montserrat"/>
              </a:rPr>
              <a:t>    This deck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10168128" y="4178808"/>
            <a:ext cx="1005840" cy="438912"/>
          </a:xfrm>
          <a:prstGeom prst="roundRect">
            <a:avLst>
              <a:gd name="adj" fmla="val 8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Y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841248" y="4828031"/>
            <a:ext cx="10515600" cy="640080"/>
          </a:xfrm>
          <a:prstGeom prst="roundRect">
            <a:avLst>
              <a:gd name="adj" fmla="val 8000"/>
            </a:avLst>
          </a:prstGeom>
          <a:solidFill>
            <a:srgbClr val="F7F6FC"/>
          </a:solidFill>
          <a:ln w="12700">
            <a:solidFill>
              <a:srgbClr val="D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l"/>
            <a:r>
              <a:rPr sz="1500" b="1">
                <a:solidFill>
                  <a:srgbClr val="14142B"/>
                </a:solidFill>
                <a:latin typeface="Montserrat"/>
              </a:rPr>
              <a:t>AppsRetrieval result JSON in a GitHub Release</a:t>
            </a:r>
            <a:r>
              <a:rPr sz="1200" b="0">
                <a:solidFill>
                  <a:srgbClr val="63637E"/>
                </a:solidFill>
                <a:latin typeface="Montserrat"/>
              </a:rPr>
              <a:t>    tag PRISM_GENAI_HACKATHON_Y2026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10168128" y="4928616"/>
            <a:ext cx="1005840" cy="438912"/>
          </a:xfrm>
          <a:prstGeom prst="roundRect">
            <a:avLst>
              <a:gd name="adj" fmla="val 8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Y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841248" y="5577840"/>
            <a:ext cx="10515600" cy="640080"/>
          </a:xfrm>
          <a:prstGeom prst="roundRect">
            <a:avLst>
              <a:gd name="adj" fmla="val 8000"/>
            </a:avLst>
          </a:prstGeom>
          <a:solidFill>
            <a:srgbClr val="F7F6FC"/>
          </a:solidFill>
          <a:ln w="12700">
            <a:solidFill>
              <a:srgbClr val="D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l"/>
            <a:r>
              <a:rPr sz="1500" b="1">
                <a:solidFill>
                  <a:srgbClr val="14142B"/>
                </a:solidFill>
                <a:latin typeface="Montserrat"/>
              </a:rPr>
              <a:t>AI usage disclosure</a:t>
            </a:r>
            <a:r>
              <a:rPr sz="1200" b="0">
                <a:solidFill>
                  <a:srgbClr val="63637E"/>
                </a:solidFill>
                <a:latin typeface="Montserrat"/>
              </a:rPr>
              <a:t>    docs/ in the repo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10168128" y="5678424"/>
            <a:ext cx="1005840" cy="438912"/>
          </a:xfrm>
          <a:prstGeom prst="roundRect">
            <a:avLst>
              <a:gd name="adj" fmla="val 8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2"/>
          <p:cNvSpPr txBox="1"/>
          <p:nvPr/>
        </p:nvSpPr>
        <p:spPr>
          <a:xfrm>
            <a:off x="1046181" y="3730214"/>
            <a:ext cx="676656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4600"/>
              <a:buFont typeface="Arial"/>
              <a:buNone/>
            </a:pPr>
            <a:r>
              <a:rPr b="1" i="0" lang="en-US" sz="46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b="0" i="0" sz="4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2"/>
          <p:cNvSpPr txBox="1"/>
          <p:nvPr/>
        </p:nvSpPr>
        <p:spPr>
          <a:xfrm>
            <a:off x="777240" y="5897880"/>
            <a:ext cx="106070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Organised by the Language AI Team and the PRISM Team, Samsung R&amp;D Institute India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4" name="SRM logo" descr="s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62361" y="630936"/>
            <a:ext cx="1294487" cy="438912"/>
          </a:xfrm>
          <a:prstGeom prst="rect">
            <a:avLst/>
          </a:prstGeom>
        </p:spPr>
      </p:pic>
      <p:pic>
        <p:nvPicPr>
          <p:cNvPr id="165" name="Samsung logo" descr="samsu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33431" y="740664"/>
            <a:ext cx="1354610" cy="208483"/>
          </a:xfrm>
          <a:prstGeom prst="rect">
            <a:avLst/>
          </a:prstGeom>
        </p:spPr>
      </p:pic>
      <p:sp>
        <p:nvSpPr>
          <p:cNvPr id="166" name="TextBox 165"/>
          <p:cNvSpPr txBox="1"/>
          <p:nvPr/>
        </p:nvSpPr>
        <p:spPr>
          <a:xfrm>
            <a:off x="1042415" y="461772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3637E"/>
                </a:solidFill>
                <a:latin typeface="Montserrat"/>
              </a:rPr>
              <a:t>github.com/wtfPrethiv/seraph  ·  github.com/projectakshith/morpheus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365760"/>
            <a:ext cx="7680960" cy="1097280"/>
          </a:xfrm>
        </p:spPr>
        <p:txBody>
          <a:bodyPr/>
          <a:lstStyle/>
          <a:p>
            <a:r>
              <a:rPr b="1" sz="3000">
                <a:solidFill>
                  <a:srgbClr val="6D28D9"/>
                </a:solidFill>
                <a:latin typeface="Montserrat"/>
              </a:rPr>
              <a:t>A Tough Query, Ranked</a:t>
            </a:r>
          </a:p>
        </p:txBody>
      </p:sp>
      <p:pic>
        <p:nvPicPr>
          <p:cNvPr id="3" name="SRM logo" descr="s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0235" y="457200"/>
            <a:ext cx="1186613" cy="402336"/>
          </a:xfrm>
          <a:prstGeom prst="rect">
            <a:avLst/>
          </a:prstGeom>
        </p:spPr>
      </p:pic>
      <p:pic>
        <p:nvPicPr>
          <p:cNvPr id="4" name="Samsung logo" descr="samsu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3898" y="566928"/>
            <a:ext cx="1212017" cy="1865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1248" y="14813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D28D9"/>
                </a:solidFill>
                <a:latin typeface="Montserrat"/>
              </a:rPr>
              <a:t>DEV_STDIN EXAMPLE · THE ANSWER SHARES NO KEY WORDS WITH THE QUESTION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1874519"/>
            <a:ext cx="3931920" cy="4206240"/>
          </a:xfrm>
          <a:prstGeom prst="roundRect">
            <a:avLst>
              <a:gd name="adj" fmla="val 8000"/>
            </a:avLst>
          </a:prstGeom>
          <a:solidFill>
            <a:srgbClr val="141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219456" bIns="219456"/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4B5FD"/>
                </a:solidFill>
                <a:latin typeface="Montserrat"/>
              </a:rPr>
              <a:t>Query (q1333)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Montserrat"/>
              </a:rPr>
              <a:t>Consider an infinite full binary tree. For a node labelled v, its left child is 2*v and its right child 2*v+1; the root is 1.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Montserrat"/>
              </a:rPr>
              <a:t>For each query i j, print the length of the shortest path between node i and node j.</a:t>
            </a:r>
          </a:p>
          <a:p>
            <a:pPr algn="l"/>
            <a:r>
              <a:rPr sz="1200" b="0">
                <a:solidFill>
                  <a:srgbClr val="B8BCCC"/>
                </a:solidFill>
                <a:latin typeface="Courier New"/>
              </a:rPr>
              <a:t>1 ≤ N ≤ 10^5,  1 ≤ i, j ≤ 10^9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1874519"/>
            <a:ext cx="3017520" cy="4206240"/>
          </a:xfrm>
          <a:prstGeom prst="roundRect">
            <a:avLst>
              <a:gd name="adj" fmla="val 8000"/>
            </a:avLst>
          </a:prstGeom>
          <a:solidFill>
            <a:srgbClr val="F7F6FC"/>
          </a:solidFill>
          <a:ln w="12700">
            <a:solidFill>
              <a:srgbClr val="D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l">
              <a:spcAft>
                <a:spcPts val="1000"/>
              </a:spcAft>
            </a:pPr>
            <a:r>
              <a:rPr sz="1400" b="1">
                <a:solidFill>
                  <a:srgbClr val="14142B"/>
                </a:solidFill>
                <a:latin typeface="Montserrat"/>
              </a:rPr>
              <a:t>Keyword search (BM25)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A4A63"/>
                </a:solidFill>
                <a:latin typeface="Courier New"/>
              </a:rPr>
              <a:t>1  # cook your dish here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A4A63"/>
                </a:solidFill>
                <a:latin typeface="Courier New"/>
              </a:rPr>
              <a:t>2  # cook your dish here</a:t>
            </a:r>
          </a:p>
          <a:p>
            <a:pPr algn="l">
              <a:spcAft>
                <a:spcPts val="1200"/>
              </a:spcAft>
            </a:pPr>
            <a:r>
              <a:rPr sz="1100" b="0">
                <a:solidFill>
                  <a:srgbClr val="4A4A63"/>
                </a:solidFill>
                <a:latin typeface="Courier New"/>
              </a:rPr>
              <a:t>3  #!/usr/bin/env python3</a:t>
            </a:r>
          </a:p>
          <a:p>
            <a:pPr algn="l"/>
            <a:r>
              <a:rPr sz="1200" b="1">
                <a:solidFill>
                  <a:srgbClr val="B42B2B"/>
                </a:solidFill>
                <a:latin typeface="Montserrat"/>
              </a:rPr>
              <a:t>Wrong answers. The right solution is not in its top 100.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56448" y="1874519"/>
            <a:ext cx="3200400" cy="4206240"/>
          </a:xfrm>
          <a:prstGeom prst="roundRect">
            <a:avLst>
              <a:gd name="adj" fmla="val 8000"/>
            </a:avLst>
          </a:prstGeom>
          <a:solidFill>
            <a:srgbClr val="EFEAFB"/>
          </a:solidFill>
          <a:ln w="12700">
            <a:solidFill>
              <a:srgbClr val="D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l">
              <a:spcAft>
                <a:spcPts val="1000"/>
              </a:spcAft>
            </a:pPr>
            <a:r>
              <a:rPr sz="1400" b="1">
                <a:solidFill>
                  <a:srgbClr val="6D28D9"/>
                </a:solidFill>
                <a:latin typeface="Montserrat"/>
              </a:rPr>
              <a:t>Seraph, rank 1: correct</a:t>
            </a:r>
          </a:p>
          <a:p>
            <a:pPr algn="l"/>
            <a:r>
              <a:rPr sz="1100" b="0">
                <a:solidFill>
                  <a:srgbClr val="14142B"/>
                </a:solidFill>
                <a:latin typeface="Courier New"/>
              </a:rPr>
              <a:t>t=eval(input())</a:t>
            </a:r>
          </a:p>
          <a:p>
            <a:pPr algn="l"/>
            <a:r>
              <a:rPr sz="1100" b="0">
                <a:solidFill>
                  <a:srgbClr val="14142B"/>
                </a:solidFill>
                <a:latin typeface="Courier New"/>
              </a:rPr>
              <a:t>for _ in range(t):</a:t>
            </a:r>
          </a:p>
          <a:p>
            <a:pPr algn="l"/>
            <a:r>
              <a:rPr sz="1100" b="0">
                <a:solidFill>
                  <a:srgbClr val="14142B"/>
                </a:solidFill>
                <a:latin typeface="Courier New"/>
              </a:rPr>
              <a:t> i,j=map(int,input().split())</a:t>
            </a:r>
          </a:p>
          <a:p>
            <a:pPr algn="l"/>
            <a:r>
              <a:rPr sz="1100" b="0">
                <a:solidFill>
                  <a:srgbClr val="14142B"/>
                </a:solidFill>
                <a:latin typeface="Courier New"/>
              </a:rPr>
              <a:t> bi=bin(i)[2:]</a:t>
            </a:r>
          </a:p>
          <a:p>
            <a:pPr algn="l"/>
            <a:r>
              <a:rPr sz="1100" b="0">
                <a:solidFill>
                  <a:srgbClr val="14142B"/>
                </a:solidFill>
                <a:latin typeface="Courier New"/>
              </a:rPr>
              <a:t> bj=bin(j)[2:]</a:t>
            </a:r>
          </a:p>
          <a:p>
            <a:pPr algn="l"/>
            <a:r>
              <a:rPr sz="1100" b="0">
                <a:solidFill>
                  <a:srgbClr val="14142B"/>
                </a:solidFill>
                <a:latin typeface="Courier New"/>
              </a:rPr>
              <a:t> ...</a:t>
            </a:r>
          </a:p>
          <a:p>
            <a:pPr algn="l">
              <a:spcAft>
                <a:spcPts val="1200"/>
              </a:spcAft>
            </a:pPr>
            <a:r>
              <a:rPr sz="1100" b="0">
                <a:solidFill>
                  <a:srgbClr val="14142B"/>
                </a:solidFill>
                <a:latin typeface="Courier New"/>
              </a:rPr>
              <a:t> print(len(bi)-k+len(bj)-k)</a:t>
            </a:r>
          </a:p>
          <a:p>
            <a:pPr algn="l"/>
            <a:r>
              <a:rPr sz="1200" b="0">
                <a:solidFill>
                  <a:srgbClr val="4A4A63"/>
                </a:solidFill>
                <a:latin typeface="Montserrat"/>
              </a:rPr>
              <a:t>It never says tree or path: it compares binary labels.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641908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3637E"/>
                </a:solidFill>
                <a:latin typeface="Montserrat"/>
              </a:rPr>
              <a:t>Seraph · SRM IST · 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2026-09-07T12:01:01Z</dcterms:created>
  <dc:creator>Binny Lakra/PRISM /SRI-Bangalore/Professional/Samsung Electronics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SCPROP">
    <vt:lpwstr>NSCCustomProperty</vt:lpwstr>
  </property>
</Properties>
</file>